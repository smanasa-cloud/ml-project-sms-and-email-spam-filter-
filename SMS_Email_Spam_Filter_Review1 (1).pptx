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50" b="1" spc="200" kern="0" dirty="0">
                <a:solidFill>
                  <a:srgbClr val="C8A02C"/>
                </a:solidFill>
                <a:latin typeface="Calibri" pitchFamily="34" charset="0"/>
                <a:ea typeface="Calibri" pitchFamily="34" charset="-122"/>
                <a:cs typeface="Calibri" pitchFamily="34" charset="-120"/>
              </a:rPr>
              <a:t>KL UNIVERSITY  •  BACHUPALLY CAMPUS, HYDERABAD</a:t>
            </a:r>
            <a:endParaRPr lang="en-US" sz="1150"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SMS AND EMAIL SPAM FILTER</a:t>
            </a:r>
            <a:endParaRPr lang="en-US" sz="4200" dirty="0"/>
          </a:p>
        </p:txBody>
      </p:sp>
      <p:sp>
        <p:nvSpPr>
          <p:cNvPr id="5" name="Text 3"/>
          <p:cNvSpPr txBox="1"/>
          <p:nvPr/>
        </p:nvSpPr>
        <p:spPr>
          <a:xfrm>
            <a:off x="640080" y="2542032"/>
            <a:ext cx="10881360" cy="274320"/>
          </a:xfrm>
          <a:prstGeom prst="rect">
            <a:avLst/>
          </a:prstGeom>
          <a:noFill/>
          <a:ln/>
        </p:spPr>
        <p:txBody>
          <a:bodyPr wrap="square" lIns="0" tIns="0" rIns="0" bIns="0" rtlCol="0" anchor="ctr"/>
          <a:lstStyle/>
          <a:p>
            <a:pPr indent="0" marL="0">
              <a:buNone/>
            </a:pPr>
            <a:r>
              <a:rPr lang="en-US" sz="1250" i="1" dirty="0">
                <a:solidFill>
                  <a:srgbClr val="C8A02C"/>
                </a:solidFill>
                <a:latin typeface="Calibri" pitchFamily="34" charset="0"/>
                <a:ea typeface="Calibri" pitchFamily="34" charset="-122"/>
                <a:cs typeface="Calibri" pitchFamily="34" charset="-120"/>
              </a:rPr>
              <a:t>Machine Learning-Based Spam Detection System</a:t>
            </a:r>
            <a:endParaRPr lang="en-US" sz="1250" dirty="0"/>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sp>
      <p:sp>
        <p:nvSpPr>
          <p:cNvPr id="7" name="Text 5"/>
          <p:cNvSpPr txBox="1"/>
          <p:nvPr/>
        </p:nvSpPr>
        <p:spPr>
          <a:xfrm>
            <a:off x="868680" y="3364992"/>
            <a:ext cx="5120640" cy="256032"/>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indent="0" marL="0">
              <a:lnSpc>
                <a:spcPts val="2400"/>
              </a:lnSpc>
              <a:buNone/>
            </a:pPr>
            <a:r>
              <a:rPr lang="en-US" sz="1450" dirty="0">
                <a:solidFill>
                  <a:srgbClr val="FFFFFF"/>
                </a:solidFill>
                <a:latin typeface="Calibri" pitchFamily="34" charset="0"/>
                <a:ea typeface="Calibri" pitchFamily="34" charset="-122"/>
                <a:cs typeface="Calibri" pitchFamily="34" charset="-120"/>
              </a:rPr>
              <a:t>2520030051   Mallavarapu Bala Pranitha</a:t>
            </a:r>
            <a:endParaRPr lang="en-US" sz="1450" dirty="0"/>
          </a:p>
          <a:p>
            <a:pPr indent="0" marL="0">
              <a:lnSpc>
                <a:spcPts val="2400"/>
              </a:lnSpc>
              <a:buNone/>
            </a:pPr>
            <a:r>
              <a:rPr lang="en-US" sz="1450" dirty="0">
                <a:solidFill>
                  <a:srgbClr val="FFFFFF"/>
                </a:solidFill>
                <a:latin typeface="Calibri" pitchFamily="34" charset="0"/>
                <a:ea typeface="Calibri" pitchFamily="34" charset="-122"/>
                <a:cs typeface="Calibri" pitchFamily="34" charset="-120"/>
              </a:rPr>
              <a:t>2520030500   M. Manasa</a:t>
            </a:r>
            <a:endParaRPr lang="en-US" sz="1450" dirty="0"/>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sp>
      <p:sp>
        <p:nvSpPr>
          <p:cNvPr id="10" name="Text 8"/>
          <p:cNvSpPr txBox="1"/>
          <p:nvPr/>
        </p:nvSpPr>
        <p:spPr>
          <a:xfrm>
            <a:off x="6720840" y="3364992"/>
            <a:ext cx="4572000" cy="256032"/>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UNDER THE GUIDANCE OF</a:t>
            </a:r>
            <a:endParaRPr lang="en-US" sz="1000"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Dr. G S Raghavendra</a:t>
            </a:r>
            <a:endParaRPr lang="en-US" sz="1600" dirty="0"/>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a:p>
            <a:pPr indent="0" marL="0">
              <a:buNone/>
            </a:pPr>
            <a:r>
              <a:rPr lang="en-US" sz="1300" dirty="0">
                <a:solidFill>
                  <a:srgbClr val="AEBBD6"/>
                </a:solidFill>
                <a:latin typeface="Calibri" pitchFamily="34" charset="0"/>
                <a:ea typeface="Calibri" pitchFamily="34" charset="-122"/>
                <a:cs typeface="Calibri" pitchFamily="34" charset="-120"/>
              </a:rPr>
              <a:t>KL University, Bachupally Campus</a:t>
            </a:r>
            <a:endParaRPr lang="en-US" sz="1300" dirty="0"/>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indent="0" marL="0">
              <a:buNone/>
            </a:pPr>
            <a:r>
              <a:rPr lang="en-US" sz="1150" dirty="0">
                <a:solidFill>
                  <a:srgbClr val="8C9BBC"/>
                </a:solidFill>
                <a:latin typeface="Calibri" pitchFamily="34" charset="0"/>
                <a:ea typeface="Calibri" pitchFamily="34" charset="-122"/>
                <a:cs typeface="Calibri" pitchFamily="34" charset="-120"/>
              </a:rPr>
              <a:t>B.Tech II Year  |  Minor Project - Review 1  |  Academic Year 2026-27</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Contents</a:t>
            </a:r>
            <a:endParaRPr lang="en-US" sz="3100"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sp>
      <p:sp>
        <p:nvSpPr>
          <p:cNvPr id="5" name="Shape 3"/>
          <p:cNvSpPr/>
          <p:nvPr/>
        </p:nvSpPr>
        <p:spPr>
          <a:xfrm>
            <a:off x="731520" y="1527048"/>
            <a:ext cx="384048" cy="384048"/>
          </a:xfrm>
          <a:prstGeom prst="ellipse">
            <a:avLst/>
          </a:prstGeom>
          <a:solidFill>
            <a:srgbClr val="C8A02C"/>
          </a:solidFill>
          <a:ln/>
        </p:spPr>
      </p:sp>
      <p:sp>
        <p:nvSpPr>
          <p:cNvPr id="6" name="Text 4"/>
          <p:cNvSpPr txBox="1"/>
          <p:nvPr/>
        </p:nvSpPr>
        <p:spPr>
          <a:xfrm>
            <a:off x="731520" y="152704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Introduction &amp; Domain Background</a:t>
            </a:r>
            <a:endParaRPr lang="en-US" sz="1400"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sp>
      <p:sp>
        <p:nvSpPr>
          <p:cNvPr id="9" name="Shape 7"/>
          <p:cNvSpPr/>
          <p:nvPr/>
        </p:nvSpPr>
        <p:spPr>
          <a:xfrm>
            <a:off x="731520" y="2276856"/>
            <a:ext cx="384048" cy="384048"/>
          </a:xfrm>
          <a:prstGeom prst="ellipse">
            <a:avLst/>
          </a:prstGeom>
          <a:solidFill>
            <a:srgbClr val="C8A02C"/>
          </a:solidFill>
          <a:ln/>
        </p:spPr>
      </p:sp>
      <p:sp>
        <p:nvSpPr>
          <p:cNvPr id="10" name="Text 8"/>
          <p:cNvSpPr txBox="1"/>
          <p:nvPr/>
        </p:nvSpPr>
        <p:spPr>
          <a:xfrm>
            <a:off x="731520" y="2276856"/>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Problem Statement &amp; Motivation</a:t>
            </a:r>
            <a:endParaRPr lang="en-US" sz="1400"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sp>
      <p:sp>
        <p:nvSpPr>
          <p:cNvPr id="13" name="Shape 11"/>
          <p:cNvSpPr/>
          <p:nvPr/>
        </p:nvSpPr>
        <p:spPr>
          <a:xfrm>
            <a:off x="731520" y="3026664"/>
            <a:ext cx="384048" cy="384048"/>
          </a:xfrm>
          <a:prstGeom prst="ellipse">
            <a:avLst/>
          </a:prstGeom>
          <a:solidFill>
            <a:srgbClr val="C8A02C"/>
          </a:solidFill>
          <a:ln/>
        </p:spPr>
      </p:sp>
      <p:sp>
        <p:nvSpPr>
          <p:cNvPr id="14" name="Text 12"/>
          <p:cNvSpPr txBox="1"/>
          <p:nvPr/>
        </p:nvSpPr>
        <p:spPr>
          <a:xfrm>
            <a:off x="731520" y="302666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Literature Survey</a:t>
            </a:r>
            <a:endParaRPr lang="en-US" sz="1400"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sp>
      <p:sp>
        <p:nvSpPr>
          <p:cNvPr id="17" name="Shape 15"/>
          <p:cNvSpPr/>
          <p:nvPr/>
        </p:nvSpPr>
        <p:spPr>
          <a:xfrm>
            <a:off x="731520" y="3776472"/>
            <a:ext cx="384048" cy="384048"/>
          </a:xfrm>
          <a:prstGeom prst="ellipse">
            <a:avLst/>
          </a:prstGeom>
          <a:solidFill>
            <a:srgbClr val="C8A02C"/>
          </a:solidFill>
          <a:ln/>
        </p:spPr>
      </p:sp>
      <p:sp>
        <p:nvSpPr>
          <p:cNvPr id="18" name="Text 16"/>
          <p:cNvSpPr txBox="1"/>
          <p:nvPr/>
        </p:nvSpPr>
        <p:spPr>
          <a:xfrm>
            <a:off x="731520" y="377647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Research Gap Identified</a:t>
            </a:r>
            <a:endParaRPr lang="en-US" sz="1400"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sp>
      <p:sp>
        <p:nvSpPr>
          <p:cNvPr id="21" name="Shape 19"/>
          <p:cNvSpPr/>
          <p:nvPr/>
        </p:nvSpPr>
        <p:spPr>
          <a:xfrm>
            <a:off x="731520" y="4526280"/>
            <a:ext cx="384048" cy="384048"/>
          </a:xfrm>
          <a:prstGeom prst="ellipse">
            <a:avLst/>
          </a:prstGeom>
          <a:solidFill>
            <a:srgbClr val="C8A02C"/>
          </a:solidFill>
          <a:ln/>
        </p:spPr>
      </p:sp>
      <p:sp>
        <p:nvSpPr>
          <p:cNvPr id="22" name="Text 20"/>
          <p:cNvSpPr txBox="1"/>
          <p:nvPr/>
        </p:nvSpPr>
        <p:spPr>
          <a:xfrm>
            <a:off x="731520" y="452628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Objectives of the Project</a:t>
            </a:r>
            <a:endParaRPr lang="en-US" sz="1400"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sp>
      <p:sp>
        <p:nvSpPr>
          <p:cNvPr id="25" name="Shape 23"/>
          <p:cNvSpPr/>
          <p:nvPr/>
        </p:nvSpPr>
        <p:spPr>
          <a:xfrm>
            <a:off x="731520" y="5276088"/>
            <a:ext cx="384048" cy="384048"/>
          </a:xfrm>
          <a:prstGeom prst="ellipse">
            <a:avLst/>
          </a:prstGeom>
          <a:solidFill>
            <a:srgbClr val="C8A02C"/>
          </a:solidFill>
          <a:ln/>
        </p:spPr>
      </p:sp>
      <p:sp>
        <p:nvSpPr>
          <p:cNvPr id="26" name="Text 24"/>
          <p:cNvSpPr txBox="1"/>
          <p:nvPr/>
        </p:nvSpPr>
        <p:spPr>
          <a:xfrm>
            <a:off x="731520" y="527608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Proposed System Architecture</a:t>
            </a:r>
            <a:endParaRPr lang="en-US" sz="1400"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sp>
      <p:sp>
        <p:nvSpPr>
          <p:cNvPr id="29" name="Shape 27"/>
          <p:cNvSpPr/>
          <p:nvPr/>
        </p:nvSpPr>
        <p:spPr>
          <a:xfrm>
            <a:off x="6400800" y="1527048"/>
            <a:ext cx="384048" cy="384048"/>
          </a:xfrm>
          <a:prstGeom prst="ellipse">
            <a:avLst/>
          </a:prstGeom>
          <a:solidFill>
            <a:srgbClr val="C8A02C"/>
          </a:solidFill>
          <a:ln/>
        </p:spPr>
      </p:sp>
      <p:sp>
        <p:nvSpPr>
          <p:cNvPr id="30" name="Text 28"/>
          <p:cNvSpPr txBox="1"/>
          <p:nvPr/>
        </p:nvSpPr>
        <p:spPr>
          <a:xfrm>
            <a:off x="6400800" y="152704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Methodology &amp; Modules</a:t>
            </a:r>
            <a:endParaRPr lang="en-US" sz="1400"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sp>
      <p:sp>
        <p:nvSpPr>
          <p:cNvPr id="33" name="Shape 31"/>
          <p:cNvSpPr/>
          <p:nvPr/>
        </p:nvSpPr>
        <p:spPr>
          <a:xfrm>
            <a:off x="6400800" y="2276856"/>
            <a:ext cx="384048" cy="384048"/>
          </a:xfrm>
          <a:prstGeom prst="ellipse">
            <a:avLst/>
          </a:prstGeom>
          <a:solidFill>
            <a:srgbClr val="C8A02C"/>
          </a:solidFill>
          <a:ln/>
        </p:spPr>
      </p:sp>
      <p:sp>
        <p:nvSpPr>
          <p:cNvPr id="34" name="Text 32"/>
          <p:cNvSpPr txBox="1"/>
          <p:nvPr/>
        </p:nvSpPr>
        <p:spPr>
          <a:xfrm>
            <a:off x="6400800" y="2276856"/>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Tools and Technologies</a:t>
            </a:r>
            <a:endParaRPr lang="en-US" sz="1400"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sp>
      <p:sp>
        <p:nvSpPr>
          <p:cNvPr id="37" name="Shape 35"/>
          <p:cNvSpPr/>
          <p:nvPr/>
        </p:nvSpPr>
        <p:spPr>
          <a:xfrm>
            <a:off x="6400800" y="3026664"/>
            <a:ext cx="384048" cy="384048"/>
          </a:xfrm>
          <a:prstGeom prst="ellipse">
            <a:avLst/>
          </a:prstGeom>
          <a:solidFill>
            <a:srgbClr val="C8A02C"/>
          </a:solidFill>
          <a:ln/>
        </p:spPr>
      </p:sp>
      <p:sp>
        <p:nvSpPr>
          <p:cNvPr id="38" name="Text 36"/>
          <p:cNvSpPr txBox="1"/>
          <p:nvPr/>
        </p:nvSpPr>
        <p:spPr>
          <a:xfrm>
            <a:off x="6400800" y="302666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Work Completed / Demo</a:t>
            </a:r>
            <a:endParaRPr lang="en-US" sz="1400"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sp>
      <p:sp>
        <p:nvSpPr>
          <p:cNvPr id="41" name="Shape 39"/>
          <p:cNvSpPr/>
          <p:nvPr/>
        </p:nvSpPr>
        <p:spPr>
          <a:xfrm>
            <a:off x="6400800" y="3776472"/>
            <a:ext cx="384048" cy="384048"/>
          </a:xfrm>
          <a:prstGeom prst="ellipse">
            <a:avLst/>
          </a:prstGeom>
          <a:solidFill>
            <a:srgbClr val="C8A02C"/>
          </a:solidFill>
          <a:ln/>
        </p:spPr>
      </p:sp>
      <p:sp>
        <p:nvSpPr>
          <p:cNvPr id="42" name="Text 40"/>
          <p:cNvSpPr txBox="1"/>
          <p:nvPr/>
        </p:nvSpPr>
        <p:spPr>
          <a:xfrm>
            <a:off x="6400800" y="377647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6931152" y="3666744"/>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Timeline &amp; Review Plan</a:t>
            </a:r>
            <a:endParaRPr lang="en-US" sz="1400"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sp>
      <p:sp>
        <p:nvSpPr>
          <p:cNvPr id="45" name="Shape 43"/>
          <p:cNvSpPr/>
          <p:nvPr/>
        </p:nvSpPr>
        <p:spPr>
          <a:xfrm>
            <a:off x="6400800" y="4526280"/>
            <a:ext cx="384048" cy="384048"/>
          </a:xfrm>
          <a:prstGeom prst="ellipse">
            <a:avLst/>
          </a:prstGeom>
          <a:solidFill>
            <a:srgbClr val="C8A02C"/>
          </a:solidFill>
          <a:ln/>
        </p:spPr>
      </p:sp>
      <p:sp>
        <p:nvSpPr>
          <p:cNvPr id="46" name="Text 44"/>
          <p:cNvSpPr txBox="1"/>
          <p:nvPr/>
        </p:nvSpPr>
        <p:spPr>
          <a:xfrm>
            <a:off x="6400800" y="452628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6931152" y="4416552"/>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Expected Outcome &amp; Conclusion</a:t>
            </a:r>
            <a:endParaRPr lang="en-US" sz="1400"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sp>
      <p:sp>
        <p:nvSpPr>
          <p:cNvPr id="49" name="Shape 47"/>
          <p:cNvSpPr/>
          <p:nvPr/>
        </p:nvSpPr>
        <p:spPr>
          <a:xfrm>
            <a:off x="6400800" y="5276088"/>
            <a:ext cx="384048" cy="384048"/>
          </a:xfrm>
          <a:prstGeom prst="ellipse">
            <a:avLst/>
          </a:prstGeom>
          <a:solidFill>
            <a:srgbClr val="C8A02C"/>
          </a:solidFill>
          <a:ln/>
        </p:spPr>
      </p:sp>
      <p:sp>
        <p:nvSpPr>
          <p:cNvPr id="50" name="Text 48"/>
          <p:cNvSpPr txBox="1"/>
          <p:nvPr/>
        </p:nvSpPr>
        <p:spPr>
          <a:xfrm>
            <a:off x="6400800" y="527608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12</a:t>
            </a:r>
            <a:endParaRPr lang="en-US" sz="1300" dirty="0"/>
          </a:p>
        </p:txBody>
      </p:sp>
      <p:sp>
        <p:nvSpPr>
          <p:cNvPr id="51" name="Text 49"/>
          <p:cNvSpPr txBox="1"/>
          <p:nvPr/>
        </p:nvSpPr>
        <p:spPr>
          <a:xfrm>
            <a:off x="6931152" y="516636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References</a:t>
            </a:r>
            <a:endParaRPr lang="en-US" sz="1400"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Introduction &amp; Domain Background</a:t>
            </a:r>
            <a:endParaRPr lang="en-US" sz="3100"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sp>
      <p:sp>
        <p:nvSpPr>
          <p:cNvPr id="5" name="Text 3"/>
          <p:cNvSpPr txBox="1"/>
          <p:nvPr/>
        </p:nvSpPr>
        <p:spPr>
          <a:xfrm>
            <a:off x="868680" y="1691640"/>
            <a:ext cx="6035040" cy="3931920"/>
          </a:xfrm>
          <a:prstGeom prst="rect">
            <a:avLst/>
          </a:prstGeom>
          <a:noFill/>
          <a:ln/>
        </p:spPr>
        <p:txBody>
          <a:bodyPr wrap="square" lIns="0" tIns="0" rIns="0" bIns="0" rtlCol="0" anchor="ctr"/>
          <a:lstStyle/>
          <a:p>
            <a:pPr indent="0" marL="0">
              <a:lnSpc>
                <a:spcPts val="2200"/>
              </a:lnSpc>
              <a:buNone/>
            </a:pPr>
            <a:r>
              <a:rPr lang="en-US" sz="1500" b="1" dirty="0">
                <a:solidFill>
                  <a:srgbClr val="1B2A55"/>
                </a:solidFill>
                <a:latin typeface="Calibri" pitchFamily="34" charset="0"/>
                <a:ea typeface="Calibri" pitchFamily="34" charset="-122"/>
                <a:cs typeface="Calibri" pitchFamily="34" charset="-120"/>
              </a:rPr>
              <a:t>What is the domain?</a:t>
            </a:r>
            <a:endParaRPr lang="en-US" sz="1500" dirty="0"/>
          </a:p>
          <a:p>
            <a:pPr indent="0" marL="0">
              <a:lnSpc>
                <a:spcPts val="2200"/>
              </a:lnSpc>
              <a:buNone/>
            </a:pPr>
            <a:r>
              <a:rPr lang="en-US" sz="1350" dirty="0">
                <a:solidFill>
                  <a:srgbClr val="1F2430"/>
                </a:solidFill>
                <a:latin typeface="Calibri" pitchFamily="34" charset="0"/>
                <a:ea typeface="Calibri" pitchFamily="34" charset="-122"/>
                <a:cs typeface="Calibri" pitchFamily="34" charset="-120"/>
              </a:rPr>
              <a:t>Machine Learning finds patterns in data automatically, and NLP helps computers read and process text. Spam filtering uses both to pick out unwanted messages.</a:t>
            </a:r>
            <a:endParaRPr lang="en-US" sz="1500" dirty="0"/>
          </a:p>
          <a:p>
            <a:pPr indent="0" marL="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lnSpc>
                <a:spcPts val="2200"/>
              </a:lnSpc>
              <a:buNone/>
            </a:pPr>
            <a:r>
              <a:rPr lang="en-US" sz="1500" b="1" dirty="0">
                <a:solidFill>
                  <a:srgbClr val="1B2A55"/>
                </a:solidFill>
                <a:latin typeface="Calibri" pitchFamily="34" charset="0"/>
                <a:ea typeface="Calibri" pitchFamily="34" charset="-122"/>
                <a:cs typeface="Calibri" pitchFamily="34" charset="-120"/>
              </a:rPr>
              <a:t>Why is it relevant?</a:t>
            </a:r>
            <a:endParaRPr lang="en-US" sz="1500" dirty="0"/>
          </a:p>
          <a:p>
            <a:pPr indent="0" marL="0">
              <a:lnSpc>
                <a:spcPts val="2200"/>
              </a:lnSpc>
              <a:buNone/>
            </a:pPr>
            <a:r>
              <a:rPr lang="en-US" sz="1350" dirty="0">
                <a:solidFill>
                  <a:srgbClr val="1F2430"/>
                </a:solidFill>
                <a:latin typeface="Calibri" pitchFamily="34" charset="0"/>
                <a:ea typeface="Calibri" pitchFamily="34" charset="-122"/>
                <a:cs typeface="Calibri" pitchFamily="34" charset="-120"/>
              </a:rPr>
              <a:t>People keep receiving unwanted and suspicious SMS and emails. Checking every message by hand takes a lot of time, so automatic filtering helps.</a:t>
            </a:r>
            <a:endParaRPr lang="en-US" sz="1500" dirty="0"/>
          </a:p>
          <a:p>
            <a:pPr indent="0" marL="0">
              <a:lnSpc>
                <a:spcPts val="2200"/>
              </a:lnSpc>
              <a:buNone/>
            </a:pPr>
            <a:r>
              <a:rPr lang="en-US" sz="800" dirty="0">
                <a:solidFill>
                  <a:srgbClr val="000000"/>
                </a:solidFill>
                <a:latin typeface="Calibri" pitchFamily="34" charset="0"/>
                <a:ea typeface="Calibri" pitchFamily="34" charset="-122"/>
                <a:cs typeface="Calibri" pitchFamily="34" charset="-120"/>
              </a:rPr>
              <a:t> </a:t>
            </a:r>
            <a:endParaRPr lang="en-US" sz="1500" dirty="0"/>
          </a:p>
          <a:p>
            <a:pPr indent="0" marL="0">
              <a:lnSpc>
                <a:spcPts val="2200"/>
              </a:lnSpc>
              <a:buNone/>
            </a:pPr>
            <a:r>
              <a:rPr lang="en-US" sz="1500" b="1" dirty="0">
                <a:solidFill>
                  <a:srgbClr val="1B2A55"/>
                </a:solidFill>
                <a:latin typeface="Calibri" pitchFamily="34" charset="0"/>
                <a:ea typeface="Calibri" pitchFamily="34" charset="-122"/>
                <a:cs typeface="Calibri" pitchFamily="34" charset="-120"/>
              </a:rPr>
              <a:t>Where does our project fit?</a:t>
            </a:r>
            <a:endParaRPr lang="en-US" sz="1500" dirty="0"/>
          </a:p>
          <a:p>
            <a:pPr indent="0" marL="0">
              <a:lnSpc>
                <a:spcPts val="2200"/>
              </a:lnSpc>
              <a:buNone/>
            </a:pPr>
            <a:r>
              <a:rPr lang="en-US" sz="1350" dirty="0">
                <a:solidFill>
                  <a:srgbClr val="1F2430"/>
                </a:solidFill>
                <a:latin typeface="Calibri" pitchFamily="34" charset="0"/>
                <a:ea typeface="Calibri" pitchFamily="34" charset="-122"/>
                <a:cs typeface="Calibri" pitchFamily="34" charset="-120"/>
              </a:rPr>
              <a:t>We use Machine Learning and NLP techniques to classify SMS and email messages as Spam or Not Spam.</a:t>
            </a:r>
            <a:endParaRPr lang="en-US" sz="1500" dirty="0"/>
          </a:p>
        </p:txBody>
      </p:sp>
      <p:sp>
        <p:nvSpPr>
          <p:cNvPr id="6" name="Shape 4"/>
          <p:cNvSpPr/>
          <p:nvPr/>
        </p:nvSpPr>
        <p:spPr>
          <a:xfrm>
            <a:off x="7406640" y="1417320"/>
            <a:ext cx="4206240" cy="4480560"/>
          </a:xfrm>
          <a:prstGeom prst="roundRect">
            <a:avLst>
              <a:gd name="adj" fmla="val 2581"/>
            </a:avLst>
          </a:prstGeom>
          <a:solidFill>
            <a:srgbClr val="FFFFFF"/>
          </a:solidFill>
          <a:ln w="12700">
            <a:solidFill>
              <a:srgbClr val="DDE3EC"/>
            </a:solidFill>
            <a:prstDash val="solid"/>
          </a:ln>
        </p:spPr>
      </p:sp>
      <p:sp>
        <p:nvSpPr>
          <p:cNvPr id="11" name="Text 9"/>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
        <p:nvSpPr>
          <p:cNvPr id="13" name="Rounded Rectangle 12"/>
          <p:cNvSpPr/>
          <p:nvPr/>
        </p:nvSpPr>
        <p:spPr>
          <a:xfrm>
            <a:off x="7818120" y="1645920"/>
            <a:ext cx="3383280" cy="786384"/>
          </a:xfrm>
          <a:prstGeom prst="roundRect">
            <a:avLst>
              <a:gd name="adj" fmla="val 8000"/>
            </a:avLst>
          </a:prstGeom>
          <a:solidFill>
            <a:srgbClr val="F1F4F9"/>
          </a:solidFill>
          <a:ln w="12700">
            <a:solidFill>
              <a:srgbClr val="DDE3EC"/>
            </a:solidFill>
          </a:ln>
        </p:spPr>
        <p:txBody>
          <a:bodyPr rtlCol="0" anchor="ctr" wrap="square" tIns="36576" bIns="36576"/>
          <a:lstStyle/>
          <a:p>
            <a:pPr algn="ctr"/>
            <a:r>
              <a:rPr sz="1500" b="1">
                <a:solidFill>
                  <a:srgbClr val="1B2A55"/>
                </a:solidFill>
                <a:latin typeface="Calibri"/>
              </a:rPr>
              <a:t>Messages</a:t>
            </a:r>
          </a:p>
          <a:p>
            <a:pPr algn="ctr"/>
            <a:r>
              <a:rPr sz="1150" b="0">
                <a:solidFill>
                  <a:srgbClr val="1F2430"/>
                </a:solidFill>
                <a:latin typeface="Calibri"/>
              </a:rPr>
              <a:t>SMS and email text</a:t>
            </a:r>
          </a:p>
        </p:txBody>
      </p:sp>
      <p:sp>
        <p:nvSpPr>
          <p:cNvPr id="14" name="Down Arrow 13"/>
          <p:cNvSpPr/>
          <p:nvPr/>
        </p:nvSpPr>
        <p:spPr>
          <a:xfrm>
            <a:off x="9390888" y="2487168"/>
            <a:ext cx="237744" cy="274320"/>
          </a:xfrm>
          <a:prstGeom prst="downArrow">
            <a:avLst/>
          </a:prstGeom>
          <a:solidFill>
            <a:srgbClr val="C8A02C"/>
          </a:solidFill>
          <a:ln>
            <a:noFill/>
          </a:ln>
        </p:spPr>
        <p:txBody>
          <a:bodyPr rtlCol="0" anchor="ctr"/>
          <a:lstStyle/>
          <a:p>
            <a:pPr algn="ctr"/>
          </a:p>
        </p:txBody>
      </p:sp>
      <p:sp>
        <p:nvSpPr>
          <p:cNvPr id="15" name="Rounded Rectangle 14"/>
          <p:cNvSpPr/>
          <p:nvPr/>
        </p:nvSpPr>
        <p:spPr>
          <a:xfrm>
            <a:off x="7818120" y="2761488"/>
            <a:ext cx="3383280" cy="786384"/>
          </a:xfrm>
          <a:prstGeom prst="roundRect">
            <a:avLst>
              <a:gd name="adj" fmla="val 8000"/>
            </a:avLst>
          </a:prstGeom>
          <a:solidFill>
            <a:srgbClr val="F1F4F9"/>
          </a:solidFill>
          <a:ln w="12700">
            <a:solidFill>
              <a:srgbClr val="DDE3EC"/>
            </a:solidFill>
          </a:ln>
        </p:spPr>
        <p:txBody>
          <a:bodyPr rtlCol="0" anchor="ctr" wrap="square" tIns="36576" bIns="36576"/>
          <a:lstStyle/>
          <a:p>
            <a:pPr algn="ctr"/>
            <a:r>
              <a:rPr sz="1500" b="1">
                <a:solidFill>
                  <a:srgbClr val="1B2A55"/>
                </a:solidFill>
                <a:latin typeface="Calibri"/>
              </a:rPr>
              <a:t>Text Processing</a:t>
            </a:r>
          </a:p>
          <a:p>
            <a:pPr algn="ctr"/>
            <a:r>
              <a:rPr sz="1150" b="0">
                <a:solidFill>
                  <a:srgbClr val="1F2430"/>
                </a:solidFill>
                <a:latin typeface="Calibri"/>
              </a:rPr>
              <a:t>Clean and prepare the text</a:t>
            </a:r>
          </a:p>
        </p:txBody>
      </p:sp>
      <p:sp>
        <p:nvSpPr>
          <p:cNvPr id="16" name="Down Arrow 15"/>
          <p:cNvSpPr/>
          <p:nvPr/>
        </p:nvSpPr>
        <p:spPr>
          <a:xfrm>
            <a:off x="9390888" y="3602736"/>
            <a:ext cx="237744" cy="274320"/>
          </a:xfrm>
          <a:prstGeom prst="downArrow">
            <a:avLst/>
          </a:prstGeom>
          <a:solidFill>
            <a:srgbClr val="C8A02C"/>
          </a:solidFill>
          <a:ln>
            <a:noFill/>
          </a:ln>
        </p:spPr>
        <p:txBody>
          <a:bodyPr rtlCol="0" anchor="ctr"/>
          <a:lstStyle/>
          <a:p>
            <a:pPr algn="ctr"/>
          </a:p>
        </p:txBody>
      </p:sp>
      <p:sp>
        <p:nvSpPr>
          <p:cNvPr id="17" name="Rounded Rectangle 16"/>
          <p:cNvSpPr/>
          <p:nvPr/>
        </p:nvSpPr>
        <p:spPr>
          <a:xfrm>
            <a:off x="7818120" y="3877056"/>
            <a:ext cx="3383280" cy="786384"/>
          </a:xfrm>
          <a:prstGeom prst="roundRect">
            <a:avLst>
              <a:gd name="adj" fmla="val 8000"/>
            </a:avLst>
          </a:prstGeom>
          <a:solidFill>
            <a:srgbClr val="F1F4F9"/>
          </a:solidFill>
          <a:ln w="12700">
            <a:solidFill>
              <a:srgbClr val="DDE3EC"/>
            </a:solidFill>
          </a:ln>
        </p:spPr>
        <p:txBody>
          <a:bodyPr rtlCol="0" anchor="ctr" wrap="square" tIns="36576" bIns="36576"/>
          <a:lstStyle/>
          <a:p>
            <a:pPr algn="ctr"/>
            <a:r>
              <a:rPr sz="1500" b="1">
                <a:solidFill>
                  <a:srgbClr val="1B2A55"/>
                </a:solidFill>
                <a:latin typeface="Calibri"/>
              </a:rPr>
              <a:t>ML Model</a:t>
            </a:r>
          </a:p>
          <a:p>
            <a:pPr algn="ctr"/>
            <a:r>
              <a:rPr sz="1150" b="0">
                <a:solidFill>
                  <a:srgbClr val="1F2430"/>
                </a:solidFill>
                <a:latin typeface="Calibri"/>
              </a:rPr>
              <a:t>Learns from labelled messages</a:t>
            </a:r>
          </a:p>
        </p:txBody>
      </p:sp>
      <p:sp>
        <p:nvSpPr>
          <p:cNvPr id="18" name="Down Arrow 17"/>
          <p:cNvSpPr/>
          <p:nvPr/>
        </p:nvSpPr>
        <p:spPr>
          <a:xfrm>
            <a:off x="9390888" y="4718304"/>
            <a:ext cx="237744" cy="274320"/>
          </a:xfrm>
          <a:prstGeom prst="downArrow">
            <a:avLst/>
          </a:prstGeom>
          <a:solidFill>
            <a:srgbClr val="C8A02C"/>
          </a:solidFill>
          <a:ln>
            <a:noFill/>
          </a:ln>
        </p:spPr>
        <p:txBody>
          <a:bodyPr rtlCol="0" anchor="ctr"/>
          <a:lstStyle/>
          <a:p>
            <a:pPr algn="ctr"/>
          </a:p>
        </p:txBody>
      </p:sp>
      <p:sp>
        <p:nvSpPr>
          <p:cNvPr id="19" name="Rounded Rectangle 18"/>
          <p:cNvSpPr/>
          <p:nvPr/>
        </p:nvSpPr>
        <p:spPr>
          <a:xfrm>
            <a:off x="7818120" y="4992624"/>
            <a:ext cx="3383280" cy="786384"/>
          </a:xfrm>
          <a:prstGeom prst="roundRect">
            <a:avLst>
              <a:gd name="adj" fmla="val 8000"/>
            </a:avLst>
          </a:prstGeom>
          <a:solidFill>
            <a:srgbClr val="1B2A55"/>
          </a:solidFill>
          <a:ln w="12700">
            <a:solidFill>
              <a:srgbClr val="1B2A55"/>
            </a:solidFill>
          </a:ln>
        </p:spPr>
        <p:txBody>
          <a:bodyPr rtlCol="0" anchor="ctr" wrap="square" tIns="36576" bIns="36576"/>
          <a:lstStyle/>
          <a:p>
            <a:pPr algn="ctr"/>
            <a:r>
              <a:rPr sz="1500" b="1">
                <a:solidFill>
                  <a:srgbClr val="FFFFFF"/>
                </a:solidFill>
                <a:latin typeface="Calibri"/>
              </a:rPr>
              <a:t>Spam / Not Spam</a:t>
            </a:r>
          </a:p>
          <a:p>
            <a:pPr algn="ctr"/>
            <a:r>
              <a:rPr sz="1150" b="0">
                <a:solidFill>
                  <a:srgbClr val="AEBBD6"/>
                </a:solidFill>
                <a:latin typeface="Calibri"/>
              </a:rPr>
              <a:t>Final class of the message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Problem Statement &amp; Motivation</a:t>
            </a:r>
            <a:endParaRPr lang="en-US" sz="3100"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sp>
      <p:sp>
        <p:nvSpPr>
          <p:cNvPr id="6" name="Text 4"/>
          <p:cNvSpPr txBox="1"/>
          <p:nvPr/>
        </p:nvSpPr>
        <p:spPr>
          <a:xfrm>
            <a:off x="914400" y="1627632"/>
            <a:ext cx="10424160" cy="256032"/>
          </a:xfrm>
          <a:prstGeom prst="rect">
            <a:avLst/>
          </a:prstGeom>
          <a:noFill/>
          <a:ln/>
        </p:spPr>
        <p:txBody>
          <a:bodyPr wrap="square" lIns="0" tIns="0" rIns="0" bIns="0" rtlCol="0" anchor="ctr"/>
          <a:lstStyle/>
          <a:p>
            <a:pPr indent="0" marL="0">
              <a:buNone/>
            </a:pPr>
            <a:r>
              <a:rPr lang="en-US" sz="1050" b="1" spc="200" kern="0" dirty="0">
                <a:solidFill>
                  <a:srgbClr val="A4161A"/>
                </a:solidFill>
                <a:latin typeface="Calibri" pitchFamily="34" charset="0"/>
                <a:ea typeface="Calibri" pitchFamily="34" charset="-122"/>
                <a:cs typeface="Calibri" pitchFamily="34" charset="-120"/>
              </a:rPr>
              <a:t>PROBLEM STATEMENT</a:t>
            </a:r>
            <a:endParaRPr lang="en-US" sz="1050" dirty="0"/>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pPr indent="0" marL="0">
              <a:buNone/>
            </a:pPr>
            <a:r>
              <a:rPr lang="en-US" sz="1800" b="1" dirty="0">
                <a:solidFill>
                  <a:srgbClr val="1B2A55"/>
                </a:solidFill>
                <a:latin typeface="Cambria" pitchFamily="34" charset="0"/>
                <a:ea typeface="Cambria" pitchFamily="34" charset="-122"/>
                <a:cs typeface="Cambria" pitchFamily="34" charset="-120"/>
              </a:rPr>
              <a:t>" Existing manual methods of identifying spam messages are time-consuming and may fail to detect suspicious content, creating a need for an automated machine learning-based spam classification system. "</a:t>
            </a:r>
            <a:endParaRPr lang="en-US" sz="1800" dirty="0"/>
          </a:p>
        </p:txBody>
      </p:sp>
      <p:sp>
        <p:nvSpPr>
          <p:cNvPr id="8" name="Shape 6"/>
          <p:cNvSpPr/>
          <p:nvPr/>
        </p:nvSpPr>
        <p:spPr>
          <a:xfrm>
            <a:off x="548640" y="3291840"/>
            <a:ext cx="3520440" cy="2606040"/>
          </a:xfrm>
          <a:prstGeom prst="roundRect">
            <a:avLst>
              <a:gd name="adj" fmla="val 2807"/>
            </a:avLst>
          </a:prstGeom>
          <a:solidFill>
            <a:srgbClr val="F1F4F9"/>
          </a:solidFill>
          <a:ln w="12700">
            <a:solidFill>
              <a:srgbClr val="DDE3EC"/>
            </a:solidFill>
            <a:prstDash val="solid"/>
          </a:ln>
        </p:spPr>
      </p:sp>
      <p:sp>
        <p:nvSpPr>
          <p:cNvPr id="9" name="Shape 7"/>
          <p:cNvSpPr/>
          <p:nvPr/>
        </p:nvSpPr>
        <p:spPr>
          <a:xfrm>
            <a:off x="777240" y="3520440"/>
            <a:ext cx="384048" cy="384048"/>
          </a:xfrm>
          <a:prstGeom prst="ellipse">
            <a:avLst/>
          </a:prstGeom>
          <a:solidFill>
            <a:srgbClr val="C8A02C"/>
          </a:solidFill>
          <a:ln/>
        </p:spPr>
      </p:sp>
      <p:sp>
        <p:nvSpPr>
          <p:cNvPr id="10" name="Text 8"/>
          <p:cNvSpPr txBox="1"/>
          <p:nvPr/>
        </p:nvSpPr>
        <p:spPr>
          <a:xfrm>
            <a:off x="77724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77240" y="4023360"/>
            <a:ext cx="3063240" cy="457200"/>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Who is affected?</a:t>
            </a:r>
            <a:endParaRPr lang="en-US" sz="1500" dirty="0"/>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pPr indent="-171450" marL="171450">
              <a:buFont typeface="Arial"/>
              <a:buChar char="•"/>
            </a:pPr>
            <a:r>
              <a:rPr lang="en-US" sz="1300" dirty="0">
                <a:solidFill>
                  <a:srgbClr val="1F2430"/>
                </a:solidFill>
                <a:latin typeface="Calibri" pitchFamily="34" charset="0"/>
                <a:ea typeface="Calibri" pitchFamily="34" charset="-122"/>
                <a:cs typeface="Calibri" pitchFamily="34" charset="-120"/>
              </a:rPr>
              <a:t>SMS users</a:t>
            </a:r>
            <a:endParaRPr lang="en-US" sz="1300" dirty="0"/>
          </a:p>
          <a:p>
            <a:pPr indent="-171450" marL="171450">
              <a:buFont typeface="Arial"/>
              <a:buChar char="•"/>
            </a:pPr>
            <a:r>
              <a:rPr lang="en-US" sz="1300" dirty="0">
                <a:solidFill>
                  <a:srgbClr val="1F2430"/>
                </a:solidFill>
                <a:latin typeface="Calibri" pitchFamily="34" charset="0"/>
                <a:ea typeface="Calibri" pitchFamily="34" charset="-122"/>
                <a:cs typeface="Calibri" pitchFamily="34" charset="-120"/>
              </a:rPr>
              <a:t>Email users</a:t>
            </a:r>
            <a:endParaRPr lang="en-US" sz="1300" dirty="0"/>
          </a:p>
          <a:p>
            <a:pPr indent="-171450" marL="171450">
              <a:buFont typeface="Arial"/>
              <a:buChar char="•"/>
            </a:pPr>
            <a:r>
              <a:rPr lang="en-US" sz="1300" dirty="0">
                <a:solidFill>
                  <a:srgbClr val="1F2430"/>
                </a:solidFill>
                <a:latin typeface="Calibri" pitchFamily="34" charset="0"/>
                <a:ea typeface="Calibri" pitchFamily="34" charset="-122"/>
                <a:cs typeface="Calibri" pitchFamily="34" charset="-120"/>
              </a:rPr>
              <a:t>Organizations receiving large numbers of messages</a:t>
            </a:r>
            <a:endParaRPr lang="en-US" sz="1300" dirty="0"/>
          </a:p>
        </p:txBody>
      </p:sp>
      <p:sp>
        <p:nvSpPr>
          <p:cNvPr id="13" name="Shape 11"/>
          <p:cNvSpPr/>
          <p:nvPr/>
        </p:nvSpPr>
        <p:spPr>
          <a:xfrm>
            <a:off x="4297680" y="3291840"/>
            <a:ext cx="3520440" cy="2606040"/>
          </a:xfrm>
          <a:prstGeom prst="roundRect">
            <a:avLst>
              <a:gd name="adj" fmla="val 2807"/>
            </a:avLst>
          </a:prstGeom>
          <a:solidFill>
            <a:srgbClr val="F1F4F9"/>
          </a:solidFill>
          <a:ln w="12700">
            <a:solidFill>
              <a:srgbClr val="DDE3EC"/>
            </a:solidFill>
            <a:prstDash val="solid"/>
          </a:ln>
        </p:spPr>
      </p:sp>
      <p:sp>
        <p:nvSpPr>
          <p:cNvPr id="14" name="Shape 12"/>
          <p:cNvSpPr/>
          <p:nvPr/>
        </p:nvSpPr>
        <p:spPr>
          <a:xfrm>
            <a:off x="4526280" y="3520440"/>
            <a:ext cx="384048" cy="384048"/>
          </a:xfrm>
          <a:prstGeom prst="ellipse">
            <a:avLst/>
          </a:prstGeom>
          <a:solidFill>
            <a:srgbClr val="C8A02C"/>
          </a:solidFill>
          <a:ln/>
        </p:spPr>
      </p:sp>
      <p:sp>
        <p:nvSpPr>
          <p:cNvPr id="15" name="Text 13"/>
          <p:cNvSpPr txBox="1"/>
          <p:nvPr/>
        </p:nvSpPr>
        <p:spPr>
          <a:xfrm>
            <a:off x="452628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26280" y="4023360"/>
            <a:ext cx="3063240" cy="457200"/>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Motivation</a:t>
            </a:r>
            <a:endParaRPr lang="en-US" sz="1500" dirty="0"/>
          </a:p>
        </p:txBody>
      </p:sp>
      <p:sp>
        <p:nvSpPr>
          <p:cNvPr id="17" name="Text 15"/>
          <p:cNvSpPr txBox="1"/>
          <p:nvPr/>
        </p:nvSpPr>
        <p:spPr>
          <a:xfrm>
            <a:off x="4526280" y="4526280"/>
            <a:ext cx="3063240" cy="1234440"/>
          </a:xfrm>
          <a:prstGeom prst="rect">
            <a:avLst/>
          </a:prstGeom>
          <a:noFill/>
          <a:ln/>
        </p:spPr>
        <p:txBody>
          <a:bodyPr wrap="square" lIns="0" tIns="0" rIns="0" bIns="0" rtlCol="0" anchor="ctr"/>
          <a:lstStyle/>
          <a:p>
            <a:pPr indent="-171450" marL="171450">
              <a:buFont typeface="Arial"/>
              <a:buChar char="•"/>
            </a:pPr>
            <a:r>
              <a:rPr lang="en-US" sz="1200" dirty="0">
                <a:solidFill>
                  <a:srgbClr val="1F2430"/>
                </a:solidFill>
                <a:latin typeface="Calibri" pitchFamily="34" charset="0"/>
                <a:ea typeface="Calibri" pitchFamily="34" charset="-122"/>
                <a:cs typeface="Calibri" pitchFamily="34" charset="-120"/>
              </a:rPr>
              <a:t>Reduce unwanted messages</a:t>
            </a:r>
            <a:endParaRPr lang="en-US" sz="1200" dirty="0"/>
          </a:p>
          <a:p>
            <a:pPr indent="-171450" marL="171450">
              <a:buFont typeface="Arial"/>
              <a:buChar char="•"/>
            </a:pPr>
            <a:r>
              <a:rPr lang="en-US" sz="1200" dirty="0">
                <a:solidFill>
                  <a:srgbClr val="1F2430"/>
                </a:solidFill>
                <a:latin typeface="Calibri" pitchFamily="34" charset="0"/>
                <a:ea typeface="Calibri" pitchFamily="34" charset="-122"/>
                <a:cs typeface="Calibri" pitchFamily="34" charset="-120"/>
              </a:rPr>
              <a:t>Automate spam identification</a:t>
            </a:r>
            <a:endParaRPr lang="en-US" sz="1200" dirty="0"/>
          </a:p>
          <a:p>
            <a:pPr indent="-171450" marL="171450">
              <a:buFont typeface="Arial"/>
              <a:buChar char="•"/>
            </a:pPr>
            <a:r>
              <a:rPr lang="en-US" sz="1200" dirty="0">
                <a:solidFill>
                  <a:srgbClr val="1F2430"/>
                </a:solidFill>
                <a:latin typeface="Calibri" pitchFamily="34" charset="0"/>
                <a:ea typeface="Calibri" pitchFamily="34" charset="-122"/>
                <a:cs typeface="Calibri" pitchFamily="34" charset="-120"/>
              </a:rPr>
              <a:t>Improve the efficiency of message classification</a:t>
            </a:r>
            <a:endParaRPr lang="en-US" sz="1200" dirty="0"/>
          </a:p>
          <a:p>
            <a:pPr indent="-171450" marL="171450">
              <a:buFont typeface="Arial"/>
              <a:buChar char="•"/>
            </a:pPr>
            <a:r>
              <a:rPr lang="en-US" sz="1200" dirty="0">
                <a:solidFill>
                  <a:srgbClr val="1F2430"/>
                </a:solidFill>
                <a:latin typeface="Calibri" pitchFamily="34" charset="0"/>
                <a:ea typeface="Calibri" pitchFamily="34" charset="-122"/>
                <a:cs typeface="Calibri" pitchFamily="34" charset="-120"/>
              </a:rPr>
              <a:t>Explore ML approaches for text classification</a:t>
            </a:r>
            <a:endParaRPr lang="en-US" sz="1200" dirty="0"/>
          </a:p>
        </p:txBody>
      </p:sp>
      <p:sp>
        <p:nvSpPr>
          <p:cNvPr id="18" name="Shape 16"/>
          <p:cNvSpPr/>
          <p:nvPr/>
        </p:nvSpPr>
        <p:spPr>
          <a:xfrm>
            <a:off x="8046720" y="3291840"/>
            <a:ext cx="3520440" cy="2606040"/>
          </a:xfrm>
          <a:prstGeom prst="roundRect">
            <a:avLst>
              <a:gd name="adj" fmla="val 2807"/>
            </a:avLst>
          </a:prstGeom>
          <a:solidFill>
            <a:srgbClr val="F1F4F9"/>
          </a:solidFill>
          <a:ln w="12700">
            <a:solidFill>
              <a:srgbClr val="DDE3EC"/>
            </a:solidFill>
            <a:prstDash val="solid"/>
          </a:ln>
        </p:spPr>
      </p:sp>
      <p:sp>
        <p:nvSpPr>
          <p:cNvPr id="19" name="Shape 17"/>
          <p:cNvSpPr/>
          <p:nvPr/>
        </p:nvSpPr>
        <p:spPr>
          <a:xfrm>
            <a:off x="8275320" y="3520440"/>
            <a:ext cx="384048" cy="384048"/>
          </a:xfrm>
          <a:prstGeom prst="ellipse">
            <a:avLst/>
          </a:prstGeom>
          <a:solidFill>
            <a:srgbClr val="C8A02C"/>
          </a:solidFill>
          <a:ln/>
        </p:spPr>
      </p:sp>
      <p:sp>
        <p:nvSpPr>
          <p:cNvPr id="20" name="Text 18"/>
          <p:cNvSpPr txBox="1"/>
          <p:nvPr/>
        </p:nvSpPr>
        <p:spPr>
          <a:xfrm>
            <a:off x="827532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75320" y="4023360"/>
            <a:ext cx="3063240" cy="457200"/>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Why solve it?</a:t>
            </a:r>
            <a:endParaRPr lang="en-US" sz="1500" dirty="0"/>
          </a:p>
        </p:txBody>
      </p:sp>
      <p:sp>
        <p:nvSpPr>
          <p:cNvPr id="22" name="Text 20"/>
          <p:cNvSpPr txBox="1"/>
          <p:nvPr/>
        </p:nvSpPr>
        <p:spPr>
          <a:xfrm>
            <a:off x="8275320" y="4526280"/>
            <a:ext cx="3063240" cy="1234440"/>
          </a:xfrm>
          <a:prstGeom prst="rect">
            <a:avLst/>
          </a:prstGeom>
          <a:noFill/>
          <a:ln/>
        </p:spPr>
        <p:txBody>
          <a:bodyPr wrap="square" lIns="0" tIns="0" rIns="0" bIns="0" rtlCol="0" anchor="ctr"/>
          <a:lstStyle/>
          <a:p>
            <a:pPr indent="0" marL="0">
              <a:buNone/>
            </a:pPr>
            <a:r>
              <a:rPr lang="en-US" sz="1300" dirty="0">
                <a:solidFill>
                  <a:srgbClr val="1F2430"/>
                </a:solidFill>
                <a:latin typeface="Calibri" pitchFamily="34" charset="0"/>
                <a:ea typeface="Calibri" pitchFamily="34" charset="-122"/>
                <a:cs typeface="Calibri" pitchFamily="34" charset="-120"/>
              </a:rPr>
              <a:t>The project shows how machine learning can be applied to a common real-world communication problem.</a:t>
            </a:r>
            <a:endParaRPr lang="en-US" sz="1300" dirty="0"/>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3</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Literature Survey</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Papers reviewed so far on spam filtering with Naive Bayes, SVM and TF-IDF features</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4315968"/>
        </p:xfrm>
        <a:graphic>
          <a:graphicData uri="http://schemas.openxmlformats.org/drawingml/2006/table">
            <a:tbl>
              <a:tblPr/>
              <a:tblGrid>
                <a:gridCol w="548640"/>
                <a:gridCol w="1554480"/>
                <a:gridCol w="2743200"/>
                <a:gridCol w="1737360"/>
                <a:gridCol w="2286000"/>
                <a:gridCol w="2194560"/>
              </a:tblGrid>
              <a:tr h="384048">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Author &amp; Year</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Title / Technique Used</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Dataset / Tools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Key Findings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Limitation / Gap</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863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Sahami et al.</a:t>
                      </a:r>
                      <a:endParaRPr lang="en-US" sz="1050" dirty="0">
                        <a:latin typeface="Calibri" charset="0"/>
                        <a:ea typeface="Calibri" charset="0"/>
                        <a:cs typeface="Calibri" charset="0"/>
                      </a:endParaRPr>
                    </a:p>
                    <a:p>
                      <a:pPr indent="0" marL="0">
                        <a:buNone/>
                      </a:pPr>
                      <a:r>
                        <a:rPr lang="en-US" sz="1050" dirty="0">
                          <a:solidFill>
                            <a:srgbClr val="1F2430"/>
                          </a:solidFill>
                          <a:latin typeface="Calibri" pitchFamily="34" charset="0"/>
                          <a:ea typeface="Calibri" pitchFamily="34" charset="-122"/>
                          <a:cs typeface="Calibri" pitchFamily="34" charset="-120"/>
                        </a:rPr>
                        <a:t>(1998)</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Naive Bayes filter for junk e-mail</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Author-collected e-mail messages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Applied a Bayesian classifier to e-mail using word features plus hand-made spam cues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Old data; spam style has changed since then</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863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Drucker et al.</a:t>
                      </a:r>
                      <a:endParaRPr lang="en-US" sz="1050" dirty="0">
                        <a:latin typeface="Calibri" charset="0"/>
                        <a:ea typeface="Calibri" charset="0"/>
                        <a:cs typeface="Calibri" charset="0"/>
                      </a:endParaRPr>
                    </a:p>
                    <a:p>
                      <a:pPr indent="0" marL="0">
                        <a:buNone/>
                      </a:pPr>
                      <a:r>
                        <a:rPr lang="en-US" sz="1050" dirty="0">
                          <a:solidFill>
                            <a:srgbClr val="1F2430"/>
                          </a:solidFill>
                          <a:latin typeface="Calibri" pitchFamily="34" charset="0"/>
                          <a:ea typeface="Calibri" pitchFamily="34" charset="-122"/>
                          <a:cs typeface="Calibri" pitchFamily="34" charset="-120"/>
                        </a:rPr>
                        <a:t>(1999)</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SVM for spam categorisation</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E-mail corpora; compared with other classifiers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SVM performed well and needed less training time than boosting trees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E-mail only; no SMS data</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863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Metsis et al.</a:t>
                      </a:r>
                      <a:endParaRPr lang="en-US" sz="1050" dirty="0">
                        <a:latin typeface="Calibri" charset="0"/>
                        <a:ea typeface="Calibri" charset="0"/>
                        <a:cs typeface="Calibri" charset="0"/>
                      </a:endParaRPr>
                    </a:p>
                    <a:p>
                      <a:pPr indent="0" marL="0">
                        <a:buNone/>
                      </a:pPr>
                      <a:r>
                        <a:rPr lang="en-US" sz="1050" dirty="0">
                          <a:solidFill>
                            <a:srgbClr val="1F2430"/>
                          </a:solidFill>
                          <a:latin typeface="Calibri" pitchFamily="34" charset="0"/>
                          <a:ea typeface="Calibri" pitchFamily="34" charset="-122"/>
                          <a:cs typeface="Calibri" pitchFamily="34" charset="-120"/>
                        </a:rPr>
                        <a:t>(2006)</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Five Naive Bayes variants for spam filtering</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Enron-Spam datasets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Showed that the choice of Naive Bayes variant and features affects filter quality</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Limited to the Naive Bayes family; e-mail only</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863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Almeida et al.</a:t>
                      </a:r>
                      <a:endParaRPr lang="en-US" sz="1050" dirty="0">
                        <a:latin typeface="Calibri" charset="0"/>
                        <a:ea typeface="Calibri" charset="0"/>
                        <a:cs typeface="Calibri" charset="0"/>
                      </a:endParaRPr>
                    </a:p>
                    <a:p>
                      <a:pPr indent="0" marL="0">
                        <a:buNone/>
                      </a:pPr>
                      <a:r>
                        <a:rPr lang="en-US" sz="1050" dirty="0">
                          <a:solidFill>
                            <a:srgbClr val="1F2430"/>
                          </a:solidFill>
                          <a:latin typeface="Calibri" pitchFamily="34" charset="0"/>
                          <a:ea typeface="Calibri" pitchFamily="34" charset="-122"/>
                          <a:cs typeface="Calibri" pitchFamily="34" charset="-120"/>
                        </a:rPr>
                        <a:t>(2011)</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SMS spam collection and classifier comparison</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SMS Spam Collection (5,574 messages)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Released a public SMS spam dataset; SVM did best among the classifiers compared</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Short English SMS only; no e-mail</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786384">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Salton &amp; Buckley</a:t>
                      </a:r>
                      <a:endParaRPr lang="en-US" sz="1050" dirty="0">
                        <a:latin typeface="Calibri" charset="0"/>
                        <a:ea typeface="Calibri" charset="0"/>
                        <a:cs typeface="Calibri" charset="0"/>
                      </a:endParaRPr>
                    </a:p>
                    <a:p>
                      <a:pPr indent="0" marL="0">
                        <a:buNone/>
                      </a:pPr>
                      <a:r>
                        <a:rPr lang="en-US" sz="1050" dirty="0">
                          <a:solidFill>
                            <a:srgbClr val="1F2430"/>
                          </a:solidFill>
                          <a:latin typeface="Calibri" pitchFamily="34" charset="0"/>
                          <a:ea typeface="Calibri" pitchFamily="34" charset="-122"/>
                          <a:cs typeface="Calibri" pitchFamily="34" charset="-120"/>
                        </a:rPr>
                        <a:t>(1988)</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TF-IDF term weighting for text retrieval</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Standard IR test collections</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Showed that weighting terms by frequency and rarity improves text matching</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50" dirty="0">
                          <a:solidFill>
                            <a:srgbClr val="1F2430"/>
                          </a:solidFill>
                          <a:latin typeface="Calibri" pitchFamily="34" charset="0"/>
                          <a:ea typeface="Calibri" pitchFamily="34" charset="-122"/>
                          <a:cs typeface="Calibri" pitchFamily="34" charset="-120"/>
                        </a:rPr>
                        <a:t>Written for retrieval, not spam; needs testing on short text</a:t>
                      </a:r>
                      <a:endParaRPr lang="en-US" sz="10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4</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Research Gap Identified</a:t>
            </a:r>
            <a:endParaRPr lang="en-US" sz="3100" dirty="0"/>
          </a:p>
        </p:txBody>
      </p:sp>
      <p:sp>
        <p:nvSpPr>
          <p:cNvPr id="4" name="Shape 2"/>
          <p:cNvSpPr/>
          <p:nvPr/>
        </p:nvSpPr>
        <p:spPr>
          <a:xfrm>
            <a:off x="548640" y="1463040"/>
            <a:ext cx="6766560" cy="987552"/>
          </a:xfrm>
          <a:prstGeom prst="roundRect">
            <a:avLst>
              <a:gd name="adj" fmla="val 7407"/>
            </a:avLst>
          </a:prstGeom>
          <a:solidFill>
            <a:srgbClr val="F1F4F9"/>
          </a:solidFill>
          <a:ln w="12700">
            <a:solidFill>
              <a:srgbClr val="DDE3EC"/>
            </a:solidFill>
            <a:prstDash val="solid"/>
          </a:ln>
        </p:spPr>
      </p:sp>
      <p:sp>
        <p:nvSpPr>
          <p:cNvPr id="5" name="Text 3"/>
          <p:cNvSpPr txBox="1"/>
          <p:nvPr/>
        </p:nvSpPr>
        <p:spPr>
          <a:xfrm>
            <a:off x="868680" y="1591056"/>
            <a:ext cx="6172200" cy="237744"/>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GAP 1  |  TEXT REPRESENTATION</a:t>
            </a:r>
            <a:endParaRPr lang="en-US" sz="1000" dirty="0"/>
          </a:p>
        </p:txBody>
      </p:sp>
      <p:sp>
        <p:nvSpPr>
          <p:cNvPr id="6" name="Text 4"/>
          <p:cNvSpPr txBox="1"/>
          <p:nvPr/>
        </p:nvSpPr>
        <p:spPr>
          <a:xfrm>
            <a:off x="868680" y="1847088"/>
            <a:ext cx="6172200" cy="50292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Bag-of-Words and TF-IDF need to be compared side by side as ways of turning messages into features.</a:t>
            </a:r>
            <a:endParaRPr lang="en-US" sz="1350" dirty="0"/>
          </a:p>
        </p:txBody>
      </p:sp>
      <p:sp>
        <p:nvSpPr>
          <p:cNvPr id="7" name="Shape 5"/>
          <p:cNvSpPr/>
          <p:nvPr/>
        </p:nvSpPr>
        <p:spPr>
          <a:xfrm>
            <a:off x="548640" y="2606040"/>
            <a:ext cx="6766560" cy="987552"/>
          </a:xfrm>
          <a:prstGeom prst="roundRect">
            <a:avLst>
              <a:gd name="adj" fmla="val 7407"/>
            </a:avLst>
          </a:prstGeom>
          <a:solidFill>
            <a:srgbClr val="F1F4F9"/>
          </a:solidFill>
          <a:ln w="12700">
            <a:solidFill>
              <a:srgbClr val="DDE3EC"/>
            </a:solidFill>
            <a:prstDash val="solid"/>
          </a:ln>
        </p:spPr>
      </p:sp>
      <p:sp>
        <p:nvSpPr>
          <p:cNvPr id="8" name="Text 6"/>
          <p:cNvSpPr txBox="1"/>
          <p:nvPr/>
        </p:nvSpPr>
        <p:spPr>
          <a:xfrm>
            <a:off x="868680" y="2734056"/>
            <a:ext cx="6172200" cy="237744"/>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GAP 2  |  MODEL COMPARISON</a:t>
            </a:r>
            <a:endParaRPr lang="en-US" sz="1000" dirty="0"/>
          </a:p>
        </p:txBody>
      </p:sp>
      <p:sp>
        <p:nvSpPr>
          <p:cNvPr id="9" name="Text 7"/>
          <p:cNvSpPr txBox="1"/>
          <p:nvPr/>
        </p:nvSpPr>
        <p:spPr>
          <a:xfrm>
            <a:off x="868680" y="2990088"/>
            <a:ext cx="6172200" cy="50292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Multinomial Naive Bayes and SVM can be compared for spam classification on the same data.</a:t>
            </a:r>
            <a:endParaRPr lang="en-US" sz="1350" dirty="0"/>
          </a:p>
        </p:txBody>
      </p:sp>
      <p:sp>
        <p:nvSpPr>
          <p:cNvPr id="10" name="Shape 8"/>
          <p:cNvSpPr/>
          <p:nvPr/>
        </p:nvSpPr>
        <p:spPr>
          <a:xfrm>
            <a:off x="548640" y="3749040"/>
            <a:ext cx="6766560" cy="987552"/>
          </a:xfrm>
          <a:prstGeom prst="roundRect">
            <a:avLst>
              <a:gd name="adj" fmla="val 7407"/>
            </a:avLst>
          </a:prstGeom>
          <a:solidFill>
            <a:srgbClr val="F1F4F9"/>
          </a:solidFill>
          <a:ln w="12700">
            <a:solidFill>
              <a:srgbClr val="DDE3EC"/>
            </a:solidFill>
            <a:prstDash val="solid"/>
          </a:ln>
        </p:spPr>
      </p:sp>
      <p:sp>
        <p:nvSpPr>
          <p:cNvPr id="11" name="Text 9"/>
          <p:cNvSpPr txBox="1"/>
          <p:nvPr/>
        </p:nvSpPr>
        <p:spPr>
          <a:xfrm>
            <a:off x="868680" y="3877056"/>
            <a:ext cx="6172200" cy="237744"/>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GAP 3  |  INTERPRETABILITY</a:t>
            </a:r>
            <a:endParaRPr lang="en-US" sz="1000" dirty="0"/>
          </a:p>
        </p:txBody>
      </p:sp>
      <p:sp>
        <p:nvSpPr>
          <p:cNvPr id="12" name="Text 10"/>
          <p:cNvSpPr txBox="1"/>
          <p:nvPr/>
        </p:nvSpPr>
        <p:spPr>
          <a:xfrm>
            <a:off x="868680" y="4133088"/>
            <a:ext cx="6172200" cy="502920"/>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The words or terms that influence a spam decision need to be examined.</a:t>
            </a:r>
            <a:endParaRPr lang="en-US" sz="1350" dirty="0"/>
          </a:p>
        </p:txBody>
      </p:sp>
      <p:sp>
        <p:nvSpPr>
          <p:cNvPr id="13" name="Shape 11"/>
          <p:cNvSpPr/>
          <p:nvPr/>
        </p:nvSpPr>
        <p:spPr>
          <a:xfrm>
            <a:off x="7635240" y="1463040"/>
            <a:ext cx="3977640" cy="3502152"/>
          </a:xfrm>
          <a:prstGeom prst="roundRect">
            <a:avLst>
              <a:gd name="adj" fmla="val 2089"/>
            </a:avLst>
          </a:prstGeom>
          <a:solidFill>
            <a:srgbClr val="1B2A55"/>
          </a:solidFill>
          <a:ln w="12700">
            <a:solidFill>
              <a:srgbClr val="1B2A55"/>
            </a:solidFill>
            <a:prstDash val="solid"/>
          </a:ln>
        </p:spPr>
      </p:sp>
      <p:sp>
        <p:nvSpPr>
          <p:cNvPr id="14" name="Text 12"/>
          <p:cNvSpPr txBox="1"/>
          <p:nvPr/>
        </p:nvSpPr>
        <p:spPr>
          <a:xfrm>
            <a:off x="7909560" y="1691640"/>
            <a:ext cx="3429000" cy="274320"/>
          </a:xfrm>
          <a:prstGeom prst="rect">
            <a:avLst/>
          </a:prstGeom>
          <a:noFill/>
          <a:ln/>
        </p:spPr>
        <p:txBody>
          <a:bodyPr wrap="square" lIns="0" tIns="0" rIns="0" bIns="0" rtlCol="0" anchor="ctr"/>
          <a:lstStyle/>
          <a:p>
            <a:pPr indent="0" marL="0">
              <a:buNone/>
            </a:pPr>
            <a:r>
              <a:rPr lang="en-US" sz="1050" b="1" spc="150" kern="0" dirty="0">
                <a:solidFill>
                  <a:srgbClr val="C8A02C"/>
                </a:solidFill>
                <a:latin typeface="Calibri" pitchFamily="34" charset="0"/>
                <a:ea typeface="Calibri" pitchFamily="34" charset="-122"/>
                <a:cs typeface="Calibri" pitchFamily="34" charset="-120"/>
              </a:rPr>
              <a:t>OUR PROJECT ADDRESSES</a:t>
            </a:r>
            <a:endParaRPr lang="en-US" sz="1050" dirty="0"/>
          </a:p>
        </p:txBody>
      </p:sp>
      <p:sp>
        <p:nvSpPr>
          <p:cNvPr id="15" name="Text 13"/>
          <p:cNvSpPr txBox="1"/>
          <p:nvPr/>
        </p:nvSpPr>
        <p:spPr>
          <a:xfrm>
            <a:off x="7909560" y="2057400"/>
            <a:ext cx="3429000" cy="146304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We compare text representation and classification approaches to build an effective SMS and email spam classifier.</a:t>
            </a:r>
            <a:endParaRPr lang="en-US" sz="1700" dirty="0"/>
          </a:p>
        </p:txBody>
      </p:sp>
      <p:sp>
        <p:nvSpPr>
          <p:cNvPr id="16" name="Text 14"/>
          <p:cNvSpPr txBox="1"/>
          <p:nvPr/>
        </p:nvSpPr>
        <p:spPr>
          <a:xfrm>
            <a:off x="7909560" y="3977640"/>
            <a:ext cx="3429000" cy="822960"/>
          </a:xfrm>
          <a:prstGeom prst="rect">
            <a:avLst/>
          </a:prstGeom>
          <a:noFill/>
          <a:ln/>
        </p:spPr>
        <p:txBody>
          <a:bodyPr wrap="square" lIns="0" tIns="0" rIns="0" bIns="0" rtlCol="0" anchor="ctr"/>
          <a:lstStyle/>
          <a:p>
            <a:pPr indent="0" marL="0">
              <a:buNone/>
            </a:pPr>
            <a:r>
              <a:rPr lang="en-US" sz="1200" i="1" dirty="0">
                <a:solidFill>
                  <a:srgbClr val="AEBBD6"/>
                </a:solidFill>
                <a:latin typeface="Calibri" pitchFamily="34" charset="0"/>
                <a:ea typeface="Calibri" pitchFamily="34" charset="-122"/>
                <a:cs typeface="Calibri" pitchFamily="34" charset="-120"/>
              </a:rPr>
              <a:t>Features: Bag-of-Words, TF-IDF. Models: Multinomial Naive Bayes and SVM.</a:t>
            </a:r>
            <a:endParaRPr lang="en-US" sz="1200" dirty="0"/>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5</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Objectives of the Project</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Based on the abstract submitted for this project</a:t>
            </a:r>
            <a:endParaRPr lang="en-US" sz="1050" dirty="0"/>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sp>
      <p:sp>
        <p:nvSpPr>
          <p:cNvPr id="6" name="Shape 4"/>
          <p:cNvSpPr/>
          <p:nvPr/>
        </p:nvSpPr>
        <p:spPr>
          <a:xfrm>
            <a:off x="822960" y="1892808"/>
            <a:ext cx="384048" cy="384048"/>
          </a:xfrm>
          <a:prstGeom prst="ellipse">
            <a:avLst/>
          </a:prstGeom>
          <a:solidFill>
            <a:srgbClr val="C8A02C"/>
          </a:solidFill>
          <a:ln/>
        </p:spPr>
      </p:sp>
      <p:sp>
        <p:nvSpPr>
          <p:cNvPr id="7" name="Text 5"/>
          <p:cNvSpPr txBox="1"/>
          <p:nvPr/>
        </p:nvSpPr>
        <p:spPr>
          <a:xfrm>
            <a:off x="822960" y="189280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collect and preprocess </a:t>
            </a:r>
            <a:pPr indent="0" marL="0">
              <a:buNone/>
            </a:pPr>
            <a:r>
              <a:rPr lang="en-US" sz="1450" dirty="0">
                <a:solidFill>
                  <a:srgbClr val="1F2430"/>
                </a:solidFill>
                <a:latin typeface="Calibri" pitchFamily="34" charset="0"/>
                <a:ea typeface="Calibri" pitchFamily="34" charset="-122"/>
                <a:cs typeface="Calibri" pitchFamily="34" charset="-120"/>
              </a:rPr>
              <a:t>a labelled dataset containing spam and legitimate SMS and email messages.</a:t>
            </a:r>
            <a:endParaRPr lang="en-US" sz="1450" dirty="0"/>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sp>
      <p:sp>
        <p:nvSpPr>
          <p:cNvPr id="10" name="Shape 8"/>
          <p:cNvSpPr/>
          <p:nvPr/>
        </p:nvSpPr>
        <p:spPr>
          <a:xfrm>
            <a:off x="822960" y="2971800"/>
            <a:ext cx="384048" cy="384048"/>
          </a:xfrm>
          <a:prstGeom prst="ellipse">
            <a:avLst/>
          </a:prstGeom>
          <a:solidFill>
            <a:srgbClr val="C8A02C"/>
          </a:solidFill>
          <a:ln/>
        </p:spPr>
      </p:sp>
      <p:sp>
        <p:nvSpPr>
          <p:cNvPr id="11" name="Text 9"/>
          <p:cNvSpPr txBox="1"/>
          <p:nvPr/>
        </p:nvSpPr>
        <p:spPr>
          <a:xfrm>
            <a:off x="822960" y="297180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convert </a:t>
            </a:r>
            <a:pPr indent="0" marL="0">
              <a:buNone/>
            </a:pPr>
            <a:r>
              <a:rPr lang="en-US" sz="1450" dirty="0">
                <a:solidFill>
                  <a:srgbClr val="1F2430"/>
                </a:solidFill>
                <a:latin typeface="Calibri" pitchFamily="34" charset="0"/>
                <a:ea typeface="Calibri" pitchFamily="34" charset="-122"/>
                <a:cs typeface="Calibri" pitchFamily="34" charset="-120"/>
              </a:rPr>
              <a:t>text messages into numerical features using Bag-of-Words and TF-IDF techniques.</a:t>
            </a:r>
            <a:endParaRPr lang="en-US" sz="1450" dirty="0"/>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sp>
      <p:sp>
        <p:nvSpPr>
          <p:cNvPr id="14" name="Shape 12"/>
          <p:cNvSpPr/>
          <p:nvPr/>
        </p:nvSpPr>
        <p:spPr>
          <a:xfrm>
            <a:off x="822960" y="4050792"/>
            <a:ext cx="384048" cy="384048"/>
          </a:xfrm>
          <a:prstGeom prst="ellipse">
            <a:avLst/>
          </a:prstGeom>
          <a:solidFill>
            <a:srgbClr val="C8A02C"/>
          </a:solidFill>
          <a:ln/>
        </p:spPr>
      </p:sp>
      <p:sp>
        <p:nvSpPr>
          <p:cNvPr id="15" name="Text 13"/>
          <p:cNvSpPr txBox="1"/>
          <p:nvPr/>
        </p:nvSpPr>
        <p:spPr>
          <a:xfrm>
            <a:off x="822960" y="405079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implement and compare </a:t>
            </a:r>
            <a:pPr indent="0" marL="0">
              <a:buNone/>
            </a:pPr>
            <a:r>
              <a:rPr lang="en-US" sz="1450" dirty="0">
                <a:solidFill>
                  <a:srgbClr val="1F2430"/>
                </a:solidFill>
                <a:latin typeface="Calibri" pitchFamily="34" charset="0"/>
                <a:ea typeface="Calibri" pitchFamily="34" charset="-122"/>
                <a:cs typeface="Calibri" pitchFamily="34" charset="-120"/>
              </a:rPr>
              <a:t>Multinomial Naive Bayes and Support Vector Machine classification algorithms.</a:t>
            </a:r>
            <a:endParaRPr lang="en-US" sz="1450" dirty="0"/>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sp>
      <p:sp>
        <p:nvSpPr>
          <p:cNvPr id="18" name="Shape 16"/>
          <p:cNvSpPr/>
          <p:nvPr/>
        </p:nvSpPr>
        <p:spPr>
          <a:xfrm>
            <a:off x="822960" y="5129784"/>
            <a:ext cx="384048" cy="384048"/>
          </a:xfrm>
          <a:prstGeom prst="ellipse">
            <a:avLst/>
          </a:prstGeom>
          <a:solidFill>
            <a:srgbClr val="C8A02C"/>
          </a:solidFill>
          <a:ln/>
        </p:spPr>
      </p:sp>
      <p:sp>
        <p:nvSpPr>
          <p:cNvPr id="19" name="Text 17"/>
          <p:cNvSpPr txBox="1"/>
          <p:nvPr/>
        </p:nvSpPr>
        <p:spPr>
          <a:xfrm>
            <a:off x="822960" y="512978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pPr indent="0" marL="0">
              <a:buNone/>
            </a:pPr>
            <a:r>
              <a:rPr lang="en-US" sz="1450" b="1" dirty="0">
                <a:solidFill>
                  <a:srgbClr val="1B2A55"/>
                </a:solidFill>
                <a:latin typeface="Calibri" pitchFamily="34" charset="0"/>
                <a:ea typeface="Calibri" pitchFamily="34" charset="-122"/>
                <a:cs typeface="Calibri" pitchFamily="34" charset="-120"/>
              </a:rPr>
              <a:t>To evaluate </a:t>
            </a:r>
            <a:pPr indent="0" marL="0">
              <a:buNone/>
            </a:pPr>
            <a:r>
              <a:rPr lang="en-US" sz="1450" dirty="0">
                <a:solidFill>
                  <a:srgbClr val="1F2430"/>
                </a:solidFill>
                <a:latin typeface="Calibri" pitchFamily="34" charset="0"/>
                <a:ea typeface="Calibri" pitchFamily="34" charset="-122"/>
                <a:cs typeface="Calibri" pitchFamily="34" charset="-120"/>
              </a:rPr>
              <a:t>the models with suitable performance metrics and analyse the influential words in the predictions.</a:t>
            </a:r>
            <a:endParaRPr lang="en-US" sz="1450" dirty="0"/>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sp>
      <p:sp>
        <p:nvSpPr>
          <p:cNvPr id="5" name="Text 3"/>
          <p:cNvSpPr txBox="1"/>
          <p:nvPr/>
        </p:nvSpPr>
        <p:spPr>
          <a:xfrm>
            <a:off x="685800" y="1920240"/>
            <a:ext cx="2286000" cy="292608"/>
          </a:xfrm>
          <a:prstGeom prst="rect">
            <a:avLst/>
          </a:prstGeom>
          <a:noFill/>
          <a:ln/>
        </p:spPr>
        <p:txBody>
          <a:bodyPr wrap="square" lIns="0" tIns="0" rIns="0" bIns="0" rtlCol="0" anchor="ctr"/>
          <a:lstStyle/>
          <a:p>
            <a:pPr algn="ctr" indent="0" marL="0">
              <a:buNone/>
            </a:pPr>
            <a:r>
              <a:rPr lang="en-US" sz="1150" b="1" spc="120" kern="0" dirty="0">
                <a:solidFill>
                  <a:srgbClr val="1B2A55"/>
                </a:solidFill>
                <a:latin typeface="Calibri" pitchFamily="34" charset="0"/>
                <a:ea typeface="Calibri" pitchFamily="34" charset="-122"/>
                <a:cs typeface="Calibri" pitchFamily="34" charset="-120"/>
              </a:rPr>
              <a:t>INPUT</a:t>
            </a:r>
            <a:endParaRPr lang="en-US" sz="115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algn="ctr" indent="0" marL="0">
              <a:buNone/>
            </a:pPr>
            <a:r>
              <a:rPr lang="en-US" sz="1300" dirty="0">
                <a:solidFill>
                  <a:srgbClr val="1F2430"/>
                </a:solidFill>
                <a:latin typeface="Calibri" pitchFamily="34" charset="0"/>
                <a:ea typeface="Calibri" pitchFamily="34" charset="-122"/>
                <a:cs typeface="Calibri" pitchFamily="34" charset="-120"/>
              </a:rPr>
              <a:t>SMS / email message</a:t>
            </a:r>
            <a:endParaRPr lang="en-US" sz="1300" dirty="0"/>
          </a:p>
          <a:p>
            <a:pPr algn="ctr" indent="0" marL="0">
              <a:buNone/>
            </a:pPr>
            <a:r>
              <a:rPr lang="en-US" sz="1300" dirty="0">
                <a:solidFill>
                  <a:srgbClr val="1F2430"/>
                </a:solidFill>
                <a:latin typeface="Calibri" pitchFamily="34" charset="0"/>
                <a:ea typeface="Calibri" pitchFamily="34" charset="-122"/>
                <a:cs typeface="Calibri" pitchFamily="34" charset="-120"/>
              </a:rPr>
              <a:t>(data collection)</a:t>
            </a:r>
            <a:endParaRPr lang="en-US" sz="1300" dirty="0"/>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sp>
      <p:sp>
        <p:nvSpPr>
          <p:cNvPr id="9" name="Text 7"/>
          <p:cNvSpPr txBox="1"/>
          <p:nvPr/>
        </p:nvSpPr>
        <p:spPr>
          <a:xfrm>
            <a:off x="3575304" y="1920240"/>
            <a:ext cx="2286000" cy="292608"/>
          </a:xfrm>
          <a:prstGeom prst="rect">
            <a:avLst/>
          </a:prstGeom>
          <a:noFill/>
          <a:ln/>
        </p:spPr>
        <p:txBody>
          <a:bodyPr wrap="square" lIns="0" tIns="0" rIns="0" bIns="0" rtlCol="0" anchor="ctr"/>
          <a:lstStyle/>
          <a:p>
            <a:pPr algn="ctr" indent="0" marL="0">
              <a:buNone/>
            </a:pPr>
            <a:r>
              <a:rPr lang="en-US" sz="1150" b="1" spc="120" kern="0" dirty="0">
                <a:solidFill>
                  <a:srgbClr val="1B2A55"/>
                </a:solidFill>
                <a:latin typeface="Calibri" pitchFamily="34" charset="0"/>
                <a:ea typeface="Calibri" pitchFamily="34" charset="-122"/>
                <a:cs typeface="Calibri" pitchFamily="34" charset="-120"/>
              </a:rPr>
              <a:t>PRE-PROCESSING</a:t>
            </a:r>
            <a:endParaRPr lang="en-US" sz="115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algn="ctr" indent="0" marL="0">
              <a:buNone/>
            </a:pPr>
            <a:r>
              <a:rPr lang="en-US" sz="1300" dirty="0">
                <a:solidFill>
                  <a:srgbClr val="1F2430"/>
                </a:solidFill>
                <a:latin typeface="Calibri" pitchFamily="34" charset="0"/>
                <a:ea typeface="Calibri" pitchFamily="34" charset="-122"/>
                <a:cs typeface="Calibri" pitchFamily="34" charset="-120"/>
              </a:rPr>
              <a:t>Clean and prepare</a:t>
            </a:r>
            <a:endParaRPr lang="en-US" sz="1300" dirty="0"/>
          </a:p>
          <a:p>
            <a:pPr algn="ctr" indent="0" marL="0">
              <a:buNone/>
            </a:pPr>
            <a:r>
              <a:rPr lang="en-US" sz="1300" dirty="0">
                <a:solidFill>
                  <a:srgbClr val="1F2430"/>
                </a:solidFill>
                <a:latin typeface="Calibri" pitchFamily="34" charset="0"/>
                <a:ea typeface="Calibri" pitchFamily="34" charset="-122"/>
                <a:cs typeface="Calibri" pitchFamily="34" charset="-120"/>
              </a:rPr>
              <a:t>the text</a:t>
            </a:r>
            <a:endParaRPr lang="en-US" sz="1300" dirty="0"/>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sp>
      <p:sp>
        <p:nvSpPr>
          <p:cNvPr id="13" name="Text 11"/>
          <p:cNvSpPr txBox="1"/>
          <p:nvPr/>
        </p:nvSpPr>
        <p:spPr>
          <a:xfrm>
            <a:off x="6464808" y="1920240"/>
            <a:ext cx="2286000" cy="292608"/>
          </a:xfrm>
          <a:prstGeom prst="rect">
            <a:avLst/>
          </a:prstGeom>
          <a:noFill/>
          <a:ln/>
        </p:spPr>
        <p:txBody>
          <a:bodyPr wrap="square" lIns="0" tIns="0" rIns="0" bIns="0" rtlCol="0" anchor="ctr"/>
          <a:lstStyle/>
          <a:p>
            <a:pPr algn="ctr" indent="0" marL="0">
              <a:buNone/>
            </a:pPr>
            <a:r>
              <a:rPr lang="en-US" sz="1150" b="1" spc="120" kern="0" dirty="0">
                <a:solidFill>
                  <a:srgbClr val="C8A02C"/>
                </a:solidFill>
                <a:latin typeface="Calibri" pitchFamily="34" charset="0"/>
                <a:ea typeface="Calibri" pitchFamily="34" charset="-122"/>
                <a:cs typeface="Calibri" pitchFamily="34" charset="-120"/>
              </a:rPr>
              <a:t>FEATURE EXTRACTION</a:t>
            </a:r>
            <a:endParaRPr lang="en-US" sz="115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Bag-of-Words /</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TF-IDF</a:t>
            </a:r>
            <a:endParaRPr lang="en-US" sz="1300" dirty="0"/>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sp>
      <p:sp>
        <p:nvSpPr>
          <p:cNvPr id="17" name="Text 15"/>
          <p:cNvSpPr txBox="1"/>
          <p:nvPr/>
        </p:nvSpPr>
        <p:spPr>
          <a:xfrm>
            <a:off x="9354312" y="1920240"/>
            <a:ext cx="2286000" cy="292608"/>
          </a:xfrm>
          <a:prstGeom prst="rect">
            <a:avLst/>
          </a:prstGeom>
          <a:noFill/>
          <a:ln/>
        </p:spPr>
        <p:txBody>
          <a:bodyPr wrap="square" lIns="0" tIns="0" rIns="0" bIns="0" rtlCol="0" anchor="ctr"/>
          <a:lstStyle/>
          <a:p>
            <a:pPr algn="ctr" indent="0" marL="0">
              <a:buNone/>
            </a:pPr>
            <a:r>
              <a:rPr lang="en-US" sz="1150" b="1" spc="120" kern="0" dirty="0">
                <a:solidFill>
                  <a:srgbClr val="1B2A55"/>
                </a:solidFill>
                <a:latin typeface="Calibri" pitchFamily="34" charset="0"/>
                <a:ea typeface="Calibri" pitchFamily="34" charset="-122"/>
                <a:cs typeface="Calibri" pitchFamily="34" charset="-120"/>
              </a:rPr>
              <a:t>ML MODELS</a:t>
            </a:r>
            <a:endParaRPr lang="en-US" sz="115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algn="ctr" indent="0" marL="0">
              <a:buNone/>
            </a:pPr>
            <a:r>
              <a:rPr lang="en-US" sz="1300" dirty="0">
                <a:solidFill>
                  <a:srgbClr val="1F2430"/>
                </a:solidFill>
                <a:latin typeface="Calibri" pitchFamily="34" charset="0"/>
                <a:ea typeface="Calibri" pitchFamily="34" charset="-122"/>
                <a:cs typeface="Calibri" pitchFamily="34" charset="-120"/>
              </a:rPr>
              <a:t>Multinomial Naive Bayes /</a:t>
            </a:r>
            <a:endParaRPr lang="en-US" sz="1300" dirty="0"/>
          </a:p>
          <a:p>
            <a:pPr algn="ctr" indent="0" marL="0">
              <a:buNone/>
            </a:pPr>
            <a:r>
              <a:rPr lang="en-US" sz="1300" dirty="0">
                <a:solidFill>
                  <a:srgbClr val="1F2430"/>
                </a:solidFill>
                <a:latin typeface="Calibri" pitchFamily="34" charset="0"/>
                <a:ea typeface="Calibri" pitchFamily="34" charset="-122"/>
                <a:cs typeface="Calibri" pitchFamily="34" charset="-120"/>
              </a:rPr>
              <a:t>SVM</a:t>
            </a:r>
            <a:endParaRPr lang="en-US" sz="1300" dirty="0"/>
          </a:p>
        </p:txBody>
      </p:sp>
      <p:sp>
        <p:nvSpPr>
          <p:cNvPr id="19" name="Shape 17"/>
          <p:cNvSpPr/>
          <p:nvPr/>
        </p:nvSpPr>
        <p:spPr>
          <a:xfrm>
            <a:off x="548640" y="3749040"/>
            <a:ext cx="7315200" cy="2103120"/>
          </a:xfrm>
          <a:prstGeom prst="roundRect">
            <a:avLst>
              <a:gd name="adj" fmla="val 3478"/>
            </a:avLst>
          </a:prstGeom>
          <a:solidFill>
            <a:srgbClr val="FFFFFF"/>
          </a:solidFill>
          <a:ln w="12700">
            <a:solidFill>
              <a:srgbClr val="DDE3EC"/>
            </a:solidFill>
            <a:prstDash val="solid"/>
          </a:ln>
        </p:spPr>
      </p:sp>
      <p:sp>
        <p:nvSpPr>
          <p:cNvPr id="21" name="Shape 19"/>
          <p:cNvSpPr/>
          <p:nvPr/>
        </p:nvSpPr>
        <p:spPr>
          <a:xfrm>
            <a:off x="8092440" y="3749040"/>
            <a:ext cx="3520440" cy="2103120"/>
          </a:xfrm>
          <a:prstGeom prst="roundRect">
            <a:avLst>
              <a:gd name="adj" fmla="val 3478"/>
            </a:avLst>
          </a:prstGeom>
          <a:solidFill>
            <a:srgbClr val="FDF6E6"/>
          </a:solidFill>
          <a:ln w="12700">
            <a:solidFill>
              <a:srgbClr val="DDE3EC"/>
            </a:solidFill>
            <a:prstDash val="solid"/>
          </a:ln>
        </p:spPr>
      </p:sp>
      <p:sp>
        <p:nvSpPr>
          <p:cNvPr id="22" name="Text 20"/>
          <p:cNvSpPr txBox="1"/>
          <p:nvPr/>
        </p:nvSpPr>
        <p:spPr>
          <a:xfrm>
            <a:off x="8321040" y="3931920"/>
            <a:ext cx="3063240" cy="274320"/>
          </a:xfrm>
          <a:prstGeom prst="rect">
            <a:avLst/>
          </a:prstGeom>
          <a:noFill/>
          <a:ln/>
        </p:spPr>
        <p:txBody>
          <a:bodyPr wrap="square" lIns="0" tIns="0" rIns="0" bIns="0" rtlCol="0" anchor="ctr"/>
          <a:lstStyle/>
          <a:p>
            <a:pPr indent="0" marL="0">
              <a:buNone/>
            </a:pPr>
            <a:r>
              <a:rPr lang="en-US" sz="1350" b="1" dirty="0">
                <a:solidFill>
                  <a:srgbClr val="A4161A"/>
                </a:solidFill>
                <a:latin typeface="Calibri" pitchFamily="34" charset="0"/>
                <a:ea typeface="Calibri" pitchFamily="34" charset="-122"/>
                <a:cs typeface="Calibri" pitchFamily="34" charset="-120"/>
              </a:rPr>
              <a:t>How it works</a:t>
            </a:r>
            <a:endParaRPr lang="en-US" sz="1350" dirty="0"/>
          </a:p>
        </p:txBody>
      </p:sp>
      <p:sp>
        <p:nvSpPr>
          <p:cNvPr id="23" name="Text 21"/>
          <p:cNvSpPr txBox="1"/>
          <p:nvPr/>
        </p:nvSpPr>
        <p:spPr>
          <a:xfrm>
            <a:off x="8321040" y="4251960"/>
            <a:ext cx="3063240" cy="1371600"/>
          </a:xfrm>
          <a:prstGeom prst="rect">
            <a:avLst/>
          </a:prstGeom>
          <a:noFill/>
          <a:ln/>
        </p:spPr>
        <p:txBody>
          <a:bodyPr wrap="square" lIns="0" tIns="0" rIns="0" bIns="0" rtlCol="0" anchor="ctr"/>
          <a:lstStyle/>
          <a:p>
            <a:pPr indent="0" marL="0">
              <a:buNone/>
            </a:pPr>
            <a:r>
              <a:rPr lang="en-US" sz="1150" dirty="0">
                <a:solidFill>
                  <a:srgbClr val="1F2430"/>
                </a:solidFill>
                <a:latin typeface="Calibri" pitchFamily="34" charset="0"/>
                <a:ea typeface="Calibri" pitchFamily="34" charset="-122"/>
                <a:cs typeface="Calibri" pitchFamily="34" charset="-120"/>
              </a:rPr>
              <a:t>Input: SMS or email message</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Preprocessing: clean the text</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Features: text to numbers</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Classification: model predicts</a:t>
            </a:r>
            <a:endParaRPr lang="en-US" sz="1150" dirty="0"/>
          </a:p>
          <a:p>
            <a:pPr indent="0" marL="0">
              <a:buNone/>
            </a:pPr>
            <a:r>
              <a:rPr lang="en-US" sz="1150" dirty="0">
                <a:solidFill>
                  <a:srgbClr val="1F2430"/>
                </a:solidFill>
                <a:latin typeface="Calibri" pitchFamily="34" charset="0"/>
                <a:ea typeface="Calibri" pitchFamily="34" charset="-122"/>
                <a:cs typeface="Calibri" pitchFamily="34" charset="-120"/>
              </a:rPr>
              <a:t>Output: Spam or Not Spam</a:t>
            </a:r>
            <a:endParaRPr lang="en-US" sz="115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
        <p:nvSpPr>
          <p:cNvPr id="26" name="TextBox 25"/>
          <p:cNvSpPr txBox="1"/>
          <p:nvPr/>
        </p:nvSpPr>
        <p:spPr>
          <a:xfrm>
            <a:off x="777240" y="3840480"/>
            <a:ext cx="4572000" cy="274320"/>
          </a:xfrm>
          <a:prstGeom prst="rect">
            <a:avLst/>
          </a:prstGeom>
          <a:noFill/>
        </p:spPr>
        <p:txBody>
          <a:bodyPr wrap="none" lIns="0">
            <a:spAutoFit/>
          </a:bodyPr>
          <a:lstStyle/>
          <a:p>
            <a:r>
              <a:rPr sz="1100" i="1">
                <a:solidFill>
                  <a:srgbClr val="6B7280"/>
                </a:solidFill>
                <a:latin typeface="Calibri"/>
              </a:rPr>
              <a:t>Continues from the ML models</a:t>
            </a:r>
          </a:p>
        </p:txBody>
      </p:sp>
      <p:sp>
        <p:nvSpPr>
          <p:cNvPr id="27" name="Rounded Rectangle 26"/>
          <p:cNvSpPr/>
          <p:nvPr/>
        </p:nvSpPr>
        <p:spPr>
          <a:xfrm>
            <a:off x="777240" y="4297680"/>
            <a:ext cx="2011680" cy="1097280"/>
          </a:xfrm>
          <a:prstGeom prst="roundRect">
            <a:avLst>
              <a:gd name="adj" fmla="val 8000"/>
            </a:avLst>
          </a:prstGeom>
          <a:solidFill>
            <a:srgbClr val="F1F4F9"/>
          </a:solidFill>
          <a:ln w="12700">
            <a:solidFill>
              <a:srgbClr val="DDE3EC"/>
            </a:solidFill>
          </a:ln>
        </p:spPr>
        <p:txBody>
          <a:bodyPr rtlCol="0" anchor="ctr" wrap="square" tIns="36576" bIns="36576"/>
          <a:lstStyle/>
          <a:p>
            <a:pPr algn="ctr"/>
            <a:r>
              <a:rPr sz="1200" b="1">
                <a:solidFill>
                  <a:srgbClr val="1B2A55"/>
                </a:solidFill>
                <a:latin typeface="Calibri"/>
              </a:rPr>
              <a:t>SPAM CLASSIFICATION</a:t>
            </a:r>
          </a:p>
          <a:p>
            <a:pPr algn="ctr"/>
            <a:r>
              <a:rPr sz="1200" b="0">
                <a:solidFill>
                  <a:srgbClr val="1F2430"/>
                </a:solidFill>
                <a:latin typeface="Calibri"/>
              </a:rPr>
              <a:t>Predict the class</a:t>
            </a:r>
          </a:p>
        </p:txBody>
      </p:sp>
      <p:sp>
        <p:nvSpPr>
          <p:cNvPr id="200" name="Shape 5"/>
          <p:cNvSpPr/>
          <p:nvPr/>
        </p:nvSpPr>
        <p:spPr>
          <a:xfrm>
            <a:off x="2880360" y="4681728"/>
            <a:ext cx="201168" cy="310896"/>
          </a:xfrm>
          <a:prstGeom prst="rightArrow">
            <a:avLst/>
          </a:prstGeom>
          <a:solidFill>
            <a:srgbClr val="C8A02C"/>
          </a:solidFill>
          <a:ln w="12700">
            <a:solidFill>
              <a:srgbClr val="C8A02C"/>
            </a:solidFill>
            <a:prstDash val="solid"/>
          </a:ln>
        </p:spPr>
      </p:sp>
      <p:sp>
        <p:nvSpPr>
          <p:cNvPr id="201" name="Rounded Rectangle 200"/>
          <p:cNvSpPr/>
          <p:nvPr/>
        </p:nvSpPr>
        <p:spPr>
          <a:xfrm>
            <a:off x="3154680" y="4297680"/>
            <a:ext cx="2011680" cy="1097280"/>
          </a:xfrm>
          <a:prstGeom prst="roundRect">
            <a:avLst>
              <a:gd name="adj" fmla="val 8000"/>
            </a:avLst>
          </a:prstGeom>
          <a:solidFill>
            <a:srgbClr val="F1F4F9"/>
          </a:solidFill>
          <a:ln w="12700">
            <a:solidFill>
              <a:srgbClr val="DDE3EC"/>
            </a:solidFill>
          </a:ln>
        </p:spPr>
        <p:txBody>
          <a:bodyPr rtlCol="0" anchor="ctr" wrap="square" tIns="36576" bIns="36576"/>
          <a:lstStyle/>
          <a:p>
            <a:pPr algn="ctr"/>
            <a:r>
              <a:rPr sz="1200" b="1">
                <a:solidFill>
                  <a:srgbClr val="1B2A55"/>
                </a:solidFill>
                <a:latin typeface="Calibri"/>
              </a:rPr>
              <a:t>SPAM / NOT SPAM</a:t>
            </a:r>
          </a:p>
          <a:p>
            <a:pPr algn="ctr"/>
            <a:r>
              <a:rPr sz="1200" b="0">
                <a:solidFill>
                  <a:srgbClr val="1F2430"/>
                </a:solidFill>
                <a:latin typeface="Calibri"/>
              </a:rPr>
              <a:t>Output</a:t>
            </a:r>
          </a:p>
        </p:txBody>
      </p:sp>
      <p:sp>
        <p:nvSpPr>
          <p:cNvPr id="201" name="Shape 5"/>
          <p:cNvSpPr/>
          <p:nvPr/>
        </p:nvSpPr>
        <p:spPr>
          <a:xfrm>
            <a:off x="5257800" y="4681728"/>
            <a:ext cx="201168" cy="310896"/>
          </a:xfrm>
          <a:prstGeom prst="rightArrow">
            <a:avLst/>
          </a:prstGeom>
          <a:solidFill>
            <a:srgbClr val="C8A02C"/>
          </a:solidFill>
          <a:ln w="12700">
            <a:solidFill>
              <a:srgbClr val="C8A02C"/>
            </a:solidFill>
            <a:prstDash val="solid"/>
          </a:ln>
        </p:spPr>
      </p:sp>
      <p:sp>
        <p:nvSpPr>
          <p:cNvPr id="202" name="Rounded Rectangle 201"/>
          <p:cNvSpPr/>
          <p:nvPr/>
        </p:nvSpPr>
        <p:spPr>
          <a:xfrm>
            <a:off x="5532120" y="4297680"/>
            <a:ext cx="2011680" cy="1097280"/>
          </a:xfrm>
          <a:prstGeom prst="roundRect">
            <a:avLst>
              <a:gd name="adj" fmla="val 8000"/>
            </a:avLst>
          </a:prstGeom>
          <a:solidFill>
            <a:srgbClr val="F1F4F9"/>
          </a:solidFill>
          <a:ln w="12700">
            <a:solidFill>
              <a:srgbClr val="DDE3EC"/>
            </a:solidFill>
          </a:ln>
        </p:spPr>
        <p:txBody>
          <a:bodyPr rtlCol="0" anchor="ctr" wrap="square" tIns="36576" bIns="36576"/>
          <a:lstStyle/>
          <a:p>
            <a:pPr algn="ctr"/>
            <a:r>
              <a:rPr sz="1200" b="1">
                <a:solidFill>
                  <a:srgbClr val="1B2A55"/>
                </a:solidFill>
                <a:latin typeface="Calibri"/>
              </a:rPr>
              <a:t>PERFORMANCE EVALUATION</a:t>
            </a:r>
          </a:p>
          <a:p>
            <a:pPr algn="ctr"/>
            <a:r>
              <a:rPr sz="1200" b="0">
                <a:solidFill>
                  <a:srgbClr val="1F2430"/>
                </a:solidFill>
                <a:latin typeface="Calibri"/>
              </a:rPr>
              <a:t>Compare the models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sp>
      <p:sp>
        <p:nvSpPr>
          <p:cNvPr id="5" name="Shape 3"/>
          <p:cNvSpPr/>
          <p:nvPr/>
        </p:nvSpPr>
        <p:spPr>
          <a:xfrm>
            <a:off x="822960" y="1737360"/>
            <a:ext cx="411480" cy="411480"/>
          </a:xfrm>
          <a:prstGeom prst="ellipse">
            <a:avLst/>
          </a:prstGeom>
          <a:solidFill>
            <a:srgbClr val="1B2A55"/>
          </a:solidFill>
          <a:ln/>
        </p:spPr>
      </p:sp>
      <p:sp>
        <p:nvSpPr>
          <p:cNvPr id="6" name="Text 4"/>
          <p:cNvSpPr txBox="1"/>
          <p:nvPr/>
        </p:nvSpPr>
        <p:spPr>
          <a:xfrm>
            <a:off x="822960" y="173736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Module 1 - Data Collection</a:t>
            </a:r>
            <a:endParaRPr lang="en-US" sz="1500" dirty="0"/>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Obtain a labelled dataset</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Include spam and legitimate messages</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Organise data for training and testing</a:t>
            </a:r>
            <a:endParaRPr lang="en-US" sz="1350" dirty="0"/>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sp>
      <p:sp>
        <p:nvSpPr>
          <p:cNvPr id="10" name="Shape 8"/>
          <p:cNvSpPr/>
          <p:nvPr/>
        </p:nvSpPr>
        <p:spPr>
          <a:xfrm>
            <a:off x="6492240" y="1737360"/>
            <a:ext cx="411480" cy="411480"/>
          </a:xfrm>
          <a:prstGeom prst="ellipse">
            <a:avLst/>
          </a:prstGeom>
          <a:solidFill>
            <a:srgbClr val="1B2A55"/>
          </a:solidFill>
          <a:ln/>
        </p:spPr>
      </p:sp>
      <p:sp>
        <p:nvSpPr>
          <p:cNvPr id="11" name="Text 9"/>
          <p:cNvSpPr txBox="1"/>
          <p:nvPr/>
        </p:nvSpPr>
        <p:spPr>
          <a:xfrm>
            <a:off x="6492240" y="173736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Module 2 - Text Preprocessing</a:t>
            </a:r>
            <a:endParaRPr lang="en-US" sz="1500" dirty="0"/>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Remove unnecessary text elements</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Convert text into a consistent format</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Prepare messages for feature extraction</a:t>
            </a:r>
            <a:endParaRPr lang="en-US" sz="1350" dirty="0"/>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sp>
      <p:sp>
        <p:nvSpPr>
          <p:cNvPr id="15" name="Shape 13"/>
          <p:cNvSpPr/>
          <p:nvPr/>
        </p:nvSpPr>
        <p:spPr>
          <a:xfrm>
            <a:off x="822960" y="3977640"/>
            <a:ext cx="411480" cy="411480"/>
          </a:xfrm>
          <a:prstGeom prst="ellipse">
            <a:avLst/>
          </a:prstGeom>
          <a:solidFill>
            <a:srgbClr val="1B2A55"/>
          </a:solidFill>
          <a:ln/>
        </p:spPr>
      </p:sp>
      <p:sp>
        <p:nvSpPr>
          <p:cNvPr id="16" name="Text 14"/>
          <p:cNvSpPr txBox="1"/>
          <p:nvPr/>
        </p:nvSpPr>
        <p:spPr>
          <a:xfrm>
            <a:off x="822960" y="397764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Module 3 - Feature Extraction</a:t>
            </a:r>
            <a:endParaRPr lang="en-US" sz="1500" dirty="0"/>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Bag-of-Words</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TF-IDF</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Convert text into numerical form</a:t>
            </a:r>
            <a:endParaRPr lang="en-US" sz="1350" dirty="0"/>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sp>
      <p:sp>
        <p:nvSpPr>
          <p:cNvPr id="20" name="Shape 18"/>
          <p:cNvSpPr/>
          <p:nvPr/>
        </p:nvSpPr>
        <p:spPr>
          <a:xfrm>
            <a:off x="6492240" y="3977640"/>
            <a:ext cx="411480" cy="411480"/>
          </a:xfrm>
          <a:prstGeom prst="ellipse">
            <a:avLst/>
          </a:prstGeom>
          <a:solidFill>
            <a:srgbClr val="1B2A55"/>
          </a:solidFill>
          <a:ln/>
        </p:spPr>
      </p:sp>
      <p:sp>
        <p:nvSpPr>
          <p:cNvPr id="21" name="Text 19"/>
          <p:cNvSpPr txBox="1"/>
          <p:nvPr/>
        </p:nvSpPr>
        <p:spPr>
          <a:xfrm>
            <a:off x="6492240" y="397764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indent="0" marL="0">
              <a:buNone/>
            </a:pPr>
            <a:r>
              <a:rPr lang="en-US" sz="1500" b="1" dirty="0">
                <a:solidFill>
                  <a:srgbClr val="1B2A55"/>
                </a:solidFill>
                <a:latin typeface="Calibri" pitchFamily="34" charset="0"/>
                <a:ea typeface="Calibri" pitchFamily="34" charset="-122"/>
                <a:cs typeface="Calibri" pitchFamily="34" charset="-120"/>
              </a:rPr>
              <a:t>Module 4 - Classification &amp; Evaluation</a:t>
            </a:r>
            <a:endParaRPr lang="en-US" sz="1500" dirty="0"/>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Multinomial Naive Bayes</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Support Vector Machine</a:t>
            </a:r>
            <a:endParaRPr lang="en-US" sz="1350" dirty="0"/>
          </a:p>
          <a:p>
            <a:pPr indent="-171450" marL="171450">
              <a:buFont typeface="Arial"/>
              <a:buChar char="•"/>
            </a:pPr>
            <a:r>
              <a:rPr lang="en-US" sz="1350" dirty="0">
                <a:solidFill>
                  <a:srgbClr val="1F2430"/>
                </a:solidFill>
                <a:latin typeface="Calibri" pitchFamily="34" charset="0"/>
                <a:ea typeface="Calibri" pitchFamily="34" charset="-122"/>
                <a:cs typeface="Calibri" pitchFamily="34" charset="-120"/>
              </a:rPr>
              <a:t>Compare model performance</a:t>
            </a:r>
            <a:endParaRPr lang="en-US" sz="135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sp>
      <p:sp>
        <p:nvSpPr>
          <p:cNvPr id="5" name="Text 3"/>
          <p:cNvSpPr txBox="1"/>
          <p:nvPr/>
        </p:nvSpPr>
        <p:spPr>
          <a:xfrm>
            <a:off x="868680" y="1691640"/>
            <a:ext cx="4709160" cy="320040"/>
          </a:xfrm>
          <a:prstGeom prst="rect">
            <a:avLst/>
          </a:prstGeom>
          <a:noFill/>
          <a:ln/>
        </p:spPr>
        <p:txBody>
          <a:bodyPr wrap="square" lIns="0" tIns="0" rIns="0" bIns="0" rtlCol="0" anchor="ctr"/>
          <a:lstStyle/>
          <a:p>
            <a:pPr indent="0" marL="0">
              <a:buNone/>
            </a:pPr>
            <a:r>
              <a:rPr lang="en-US" sz="1200" b="1" spc="180" kern="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Language: Python</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Machine learning: Scikit-learn</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Text processing: NLP techniques</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Feature extraction: Bag-of-Words, TF-IDF</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Classification: Naive Bayes, SVM</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IDE: VS Code / Jupyter Notebook</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Dataset: labelled SMS and email dataset</a:t>
            </a:r>
            <a:endParaRPr lang="en-US" sz="1350" dirty="0"/>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sp>
      <p:sp>
        <p:nvSpPr>
          <p:cNvPr id="8" name="Text 6"/>
          <p:cNvSpPr txBox="1"/>
          <p:nvPr/>
        </p:nvSpPr>
        <p:spPr>
          <a:xfrm>
            <a:off x="6537960" y="1691640"/>
            <a:ext cx="4709160" cy="320040"/>
          </a:xfrm>
          <a:prstGeom prst="rect">
            <a:avLst/>
          </a:prstGeom>
          <a:noFill/>
          <a:ln/>
        </p:spPr>
        <p:txBody>
          <a:bodyPr wrap="square" lIns="0" tIns="0" rIns="0" bIns="0" rtlCol="0" anchor="ctr"/>
          <a:lstStyle/>
          <a:p>
            <a:pPr indent="0" marL="0">
              <a:buNone/>
            </a:pPr>
            <a:r>
              <a:rPr lang="en-US" sz="1200" b="1" spc="180" kern="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Processor: based on available system</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RAM: based on available system</a:t>
            </a:r>
            <a:endParaRPr lang="en-US" sz="1350" dirty="0"/>
          </a:p>
          <a:p>
            <a:pPr marL="342900" indent="-342900">
              <a:spcAft>
                <a:spcPts val="1000"/>
              </a:spcAft>
              <a:buSzPct val="100000"/>
              <a:buChar char="•"/>
            </a:pPr>
            <a:r>
              <a:rPr lang="en-US" sz="1350" dirty="0">
                <a:solidFill>
                  <a:srgbClr val="1F2430"/>
                </a:solidFill>
                <a:latin typeface="Calibri" pitchFamily="34" charset="0"/>
                <a:ea typeface="Calibri" pitchFamily="34" charset="-122"/>
                <a:cs typeface="Calibri" pitchFamily="34" charset="-120"/>
              </a:rPr>
              <a:t>Deployment: to be finalized</a:t>
            </a:r>
            <a:endParaRPr lang="en-US" sz="1350" dirty="0"/>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9</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Work Completed / Demo</a:t>
            </a:r>
            <a:endParaRPr lang="en-US" sz="3100" dirty="0"/>
          </a:p>
        </p:txBody>
      </p:sp>
      <p:sp>
        <p:nvSpPr>
          <p:cNvPr id="4" name="Shape 2"/>
          <p:cNvSpPr/>
          <p:nvPr/>
        </p:nvSpPr>
        <p:spPr>
          <a:xfrm>
            <a:off x="548640" y="1463040"/>
            <a:ext cx="5852160" cy="512064"/>
          </a:xfrm>
          <a:prstGeom prst="roundRect">
            <a:avLst>
              <a:gd name="adj" fmla="val 12903"/>
            </a:avLst>
          </a:prstGeom>
          <a:solidFill>
            <a:srgbClr val="F1F4F9"/>
          </a:solidFill>
          <a:ln w="12700">
            <a:solidFill>
              <a:srgbClr val="DDE3EC"/>
            </a:solidFill>
            <a:prstDash val="solid"/>
          </a:ln>
        </p:spPr>
      </p:sp>
      <p:sp>
        <p:nvSpPr>
          <p:cNvPr id="5" name="Shape 3"/>
          <p:cNvSpPr/>
          <p:nvPr/>
        </p:nvSpPr>
        <p:spPr>
          <a:xfrm>
            <a:off x="777240" y="1627632"/>
            <a:ext cx="182880" cy="182880"/>
          </a:xfrm>
          <a:prstGeom prst="ellipse">
            <a:avLst/>
          </a:prstGeom>
          <a:solidFill>
            <a:srgbClr val="1E7A46"/>
          </a:solidFill>
          <a:ln/>
        </p:spPr>
      </p:sp>
      <p:sp>
        <p:nvSpPr>
          <p:cNvPr id="6" name="Text 4"/>
          <p:cNvSpPr txBox="1"/>
          <p:nvPr/>
        </p:nvSpPr>
        <p:spPr>
          <a:xfrm>
            <a:off x="1097280" y="146304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Project abstract</a:t>
            </a:r>
            <a:endParaRPr lang="en-US" sz="1350" dirty="0"/>
          </a:p>
        </p:txBody>
      </p:sp>
      <p:sp>
        <p:nvSpPr>
          <p:cNvPr id="7" name="Text 5"/>
          <p:cNvSpPr txBox="1"/>
          <p:nvPr/>
        </p:nvSpPr>
        <p:spPr>
          <a:xfrm>
            <a:off x="4480560" y="1463040"/>
            <a:ext cx="1691640" cy="512064"/>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8" name="Shape 6"/>
          <p:cNvSpPr/>
          <p:nvPr/>
        </p:nvSpPr>
        <p:spPr>
          <a:xfrm>
            <a:off x="548640" y="2057400"/>
            <a:ext cx="5852160" cy="512064"/>
          </a:xfrm>
          <a:prstGeom prst="roundRect">
            <a:avLst>
              <a:gd name="adj" fmla="val 12903"/>
            </a:avLst>
          </a:prstGeom>
          <a:solidFill>
            <a:srgbClr val="F1F4F9"/>
          </a:solidFill>
          <a:ln w="12700">
            <a:solidFill>
              <a:srgbClr val="DDE3EC"/>
            </a:solidFill>
            <a:prstDash val="solid"/>
          </a:ln>
        </p:spPr>
      </p:sp>
      <p:sp>
        <p:nvSpPr>
          <p:cNvPr id="9" name="Shape 7"/>
          <p:cNvSpPr/>
          <p:nvPr/>
        </p:nvSpPr>
        <p:spPr>
          <a:xfrm>
            <a:off x="777240" y="2221992"/>
            <a:ext cx="182880" cy="182880"/>
          </a:xfrm>
          <a:prstGeom prst="ellipse">
            <a:avLst/>
          </a:prstGeom>
          <a:solidFill>
            <a:srgbClr val="C8A02C"/>
          </a:solidFill>
          <a:ln/>
        </p:spPr>
      </p:sp>
      <p:sp>
        <p:nvSpPr>
          <p:cNvPr id="10" name="Text 8"/>
          <p:cNvSpPr txBox="1"/>
          <p:nvPr/>
        </p:nvSpPr>
        <p:spPr>
          <a:xfrm>
            <a:off x="1097280" y="205740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Literature survey</a:t>
            </a:r>
            <a:endParaRPr lang="en-US" sz="1350" dirty="0"/>
          </a:p>
        </p:txBody>
      </p:sp>
      <p:sp>
        <p:nvSpPr>
          <p:cNvPr id="11" name="Text 9"/>
          <p:cNvSpPr txBox="1"/>
          <p:nvPr/>
        </p:nvSpPr>
        <p:spPr>
          <a:xfrm>
            <a:off x="4480560" y="2057400"/>
            <a:ext cx="1691640" cy="512064"/>
          </a:xfrm>
          <a:prstGeom prst="rect">
            <a:avLst/>
          </a:prstGeom>
          <a:noFill/>
          <a:ln/>
        </p:spPr>
        <p:txBody>
          <a:bodyPr wrap="square" lIns="0" tIns="0" rIns="0" bIns="0" rtlCol="0" anchor="ctr"/>
          <a:lstStyle/>
          <a:p>
            <a:pPr algn="r" indent="0" marL="0">
              <a:buNone/>
            </a:pPr>
            <a:r>
              <a:rPr lang="en-US" sz="1200" b="1" dirty="0">
                <a:solidFill>
                  <a:srgbClr val="C8A02C"/>
                </a:solidFill>
                <a:latin typeface="Calibri" pitchFamily="34" charset="0"/>
                <a:ea typeface="Calibri" pitchFamily="34" charset="-122"/>
                <a:cs typeface="Calibri" pitchFamily="34" charset="-120"/>
              </a:rPr>
              <a:t>In progress</a:t>
            </a:r>
            <a:endParaRPr lang="en-US" sz="1200" dirty="0"/>
          </a:p>
        </p:txBody>
      </p:sp>
      <p:sp>
        <p:nvSpPr>
          <p:cNvPr id="12" name="Shape 10"/>
          <p:cNvSpPr/>
          <p:nvPr/>
        </p:nvSpPr>
        <p:spPr>
          <a:xfrm>
            <a:off x="548640" y="2651760"/>
            <a:ext cx="5852160" cy="512064"/>
          </a:xfrm>
          <a:prstGeom prst="roundRect">
            <a:avLst>
              <a:gd name="adj" fmla="val 12903"/>
            </a:avLst>
          </a:prstGeom>
          <a:solidFill>
            <a:srgbClr val="F1F4F9"/>
          </a:solidFill>
          <a:ln w="12700">
            <a:solidFill>
              <a:srgbClr val="DDE3EC"/>
            </a:solidFill>
            <a:prstDash val="solid"/>
          </a:ln>
        </p:spPr>
      </p:sp>
      <p:sp>
        <p:nvSpPr>
          <p:cNvPr id="13" name="Shape 11"/>
          <p:cNvSpPr/>
          <p:nvPr/>
        </p:nvSpPr>
        <p:spPr>
          <a:xfrm>
            <a:off x="777240" y="2816352"/>
            <a:ext cx="182880" cy="182880"/>
          </a:xfrm>
          <a:prstGeom prst="ellipse">
            <a:avLst/>
          </a:prstGeom>
          <a:solidFill>
            <a:srgbClr val="C8A02C"/>
          </a:solidFill>
          <a:ln/>
        </p:spPr>
      </p:sp>
      <p:sp>
        <p:nvSpPr>
          <p:cNvPr id="14" name="Text 12"/>
          <p:cNvSpPr txBox="1"/>
          <p:nvPr/>
        </p:nvSpPr>
        <p:spPr>
          <a:xfrm>
            <a:off x="1097280" y="265176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Dataset collection</a:t>
            </a:r>
            <a:endParaRPr lang="en-US" sz="1350" dirty="0"/>
          </a:p>
        </p:txBody>
      </p:sp>
      <p:sp>
        <p:nvSpPr>
          <p:cNvPr id="15" name="Text 13"/>
          <p:cNvSpPr txBox="1"/>
          <p:nvPr/>
        </p:nvSpPr>
        <p:spPr>
          <a:xfrm>
            <a:off x="4480560" y="2651760"/>
            <a:ext cx="1691640" cy="512064"/>
          </a:xfrm>
          <a:prstGeom prst="rect">
            <a:avLst/>
          </a:prstGeom>
          <a:noFill/>
          <a:ln/>
        </p:spPr>
        <p:txBody>
          <a:bodyPr wrap="square" lIns="0" tIns="0" rIns="0" bIns="0" rtlCol="0" anchor="ctr"/>
          <a:lstStyle/>
          <a:p>
            <a:pPr algn="r" indent="0" marL="0">
              <a:buNone/>
            </a:pPr>
            <a:r>
              <a:rPr lang="en-US" sz="1200" b="1" dirty="0">
                <a:solidFill>
                  <a:srgbClr val="C8A02C"/>
                </a:solidFill>
                <a:latin typeface="Calibri" pitchFamily="34" charset="0"/>
                <a:ea typeface="Calibri" pitchFamily="34" charset="-122"/>
                <a:cs typeface="Calibri" pitchFamily="34" charset="-120"/>
              </a:rPr>
              <a:t>In progress</a:t>
            </a:r>
            <a:endParaRPr lang="en-US" sz="1200" dirty="0"/>
          </a:p>
        </p:txBody>
      </p:sp>
      <p:sp>
        <p:nvSpPr>
          <p:cNvPr id="16" name="Shape 14"/>
          <p:cNvSpPr/>
          <p:nvPr/>
        </p:nvSpPr>
        <p:spPr>
          <a:xfrm>
            <a:off x="548640" y="3246120"/>
            <a:ext cx="5852160" cy="512064"/>
          </a:xfrm>
          <a:prstGeom prst="roundRect">
            <a:avLst>
              <a:gd name="adj" fmla="val 12903"/>
            </a:avLst>
          </a:prstGeom>
          <a:solidFill>
            <a:srgbClr val="F1F4F9"/>
          </a:solidFill>
          <a:ln w="12700">
            <a:solidFill>
              <a:srgbClr val="DDE3EC"/>
            </a:solidFill>
            <a:prstDash val="solid"/>
          </a:ln>
        </p:spPr>
      </p:sp>
      <p:sp>
        <p:nvSpPr>
          <p:cNvPr id="17" name="Shape 15"/>
          <p:cNvSpPr/>
          <p:nvPr/>
        </p:nvSpPr>
        <p:spPr>
          <a:xfrm>
            <a:off x="777240" y="3410712"/>
            <a:ext cx="182880" cy="182880"/>
          </a:xfrm>
          <a:prstGeom prst="ellipse">
            <a:avLst/>
          </a:prstGeom>
          <a:solidFill>
            <a:srgbClr val="6B7280"/>
          </a:solidFill>
          <a:ln/>
        </p:spPr>
      </p:sp>
      <p:sp>
        <p:nvSpPr>
          <p:cNvPr id="18" name="Text 16"/>
          <p:cNvSpPr txBox="1"/>
          <p:nvPr/>
        </p:nvSpPr>
        <p:spPr>
          <a:xfrm>
            <a:off x="1097280" y="324612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Text preprocessing</a:t>
            </a:r>
            <a:endParaRPr lang="en-US" sz="1350" dirty="0"/>
          </a:p>
        </p:txBody>
      </p:sp>
      <p:sp>
        <p:nvSpPr>
          <p:cNvPr id="19" name="Text 17"/>
          <p:cNvSpPr txBox="1"/>
          <p:nvPr/>
        </p:nvSpPr>
        <p:spPr>
          <a:xfrm>
            <a:off x="4480560" y="3246120"/>
            <a:ext cx="1691640" cy="512064"/>
          </a:xfrm>
          <a:prstGeom prst="rect">
            <a:avLst/>
          </a:prstGeom>
          <a:noFill/>
          <a:ln/>
        </p:spPr>
        <p:txBody>
          <a:bodyPr wrap="square" lIns="0" tIns="0" rIns="0" bIns="0" rtlCol="0" anchor="ctr"/>
          <a:lstStyle/>
          <a:p>
            <a:pPr algn="r" indent="0" marL="0">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
        <p:nvSpPr>
          <p:cNvPr id="20" name="Shape 18"/>
          <p:cNvSpPr/>
          <p:nvPr/>
        </p:nvSpPr>
        <p:spPr>
          <a:xfrm>
            <a:off x="548640" y="3840480"/>
            <a:ext cx="5852160" cy="512064"/>
          </a:xfrm>
          <a:prstGeom prst="roundRect">
            <a:avLst>
              <a:gd name="adj" fmla="val 12903"/>
            </a:avLst>
          </a:prstGeom>
          <a:solidFill>
            <a:srgbClr val="F1F4F9"/>
          </a:solidFill>
          <a:ln w="12700">
            <a:solidFill>
              <a:srgbClr val="DDE3EC"/>
            </a:solidFill>
            <a:prstDash val="solid"/>
          </a:ln>
        </p:spPr>
      </p:sp>
      <p:sp>
        <p:nvSpPr>
          <p:cNvPr id="21" name="Shape 19"/>
          <p:cNvSpPr/>
          <p:nvPr/>
        </p:nvSpPr>
        <p:spPr>
          <a:xfrm>
            <a:off x="777240" y="4005072"/>
            <a:ext cx="182880" cy="182880"/>
          </a:xfrm>
          <a:prstGeom prst="ellipse">
            <a:avLst/>
          </a:prstGeom>
          <a:solidFill>
            <a:srgbClr val="6B7280"/>
          </a:solidFill>
          <a:ln/>
        </p:spPr>
      </p:sp>
      <p:sp>
        <p:nvSpPr>
          <p:cNvPr id="22" name="Text 20"/>
          <p:cNvSpPr txBox="1"/>
          <p:nvPr/>
        </p:nvSpPr>
        <p:spPr>
          <a:xfrm>
            <a:off x="1097280" y="384048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Feature extraction</a:t>
            </a:r>
            <a:endParaRPr lang="en-US" sz="1350" dirty="0"/>
          </a:p>
        </p:txBody>
      </p:sp>
      <p:sp>
        <p:nvSpPr>
          <p:cNvPr id="23" name="Text 21"/>
          <p:cNvSpPr txBox="1"/>
          <p:nvPr/>
        </p:nvSpPr>
        <p:spPr>
          <a:xfrm>
            <a:off x="4480560" y="3840480"/>
            <a:ext cx="1691640" cy="512064"/>
          </a:xfrm>
          <a:prstGeom prst="rect">
            <a:avLst/>
          </a:prstGeom>
          <a:noFill/>
          <a:ln/>
        </p:spPr>
        <p:txBody>
          <a:bodyPr wrap="square" lIns="0" tIns="0" rIns="0" bIns="0" rtlCol="0" anchor="ctr"/>
          <a:lstStyle/>
          <a:p>
            <a:pPr algn="r" indent="0" marL="0">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
        <p:nvSpPr>
          <p:cNvPr id="24" name="Shape 22"/>
          <p:cNvSpPr/>
          <p:nvPr/>
        </p:nvSpPr>
        <p:spPr>
          <a:xfrm>
            <a:off x="548640" y="4434840"/>
            <a:ext cx="5852160" cy="512064"/>
          </a:xfrm>
          <a:prstGeom prst="roundRect">
            <a:avLst>
              <a:gd name="adj" fmla="val 12903"/>
            </a:avLst>
          </a:prstGeom>
          <a:solidFill>
            <a:srgbClr val="F1F4F9"/>
          </a:solidFill>
          <a:ln w="12700">
            <a:solidFill>
              <a:srgbClr val="DDE3EC"/>
            </a:solidFill>
            <a:prstDash val="solid"/>
          </a:ln>
        </p:spPr>
      </p:sp>
      <p:sp>
        <p:nvSpPr>
          <p:cNvPr id="25" name="Shape 23"/>
          <p:cNvSpPr/>
          <p:nvPr/>
        </p:nvSpPr>
        <p:spPr>
          <a:xfrm>
            <a:off x="777240" y="4599431"/>
            <a:ext cx="182880" cy="182880"/>
          </a:xfrm>
          <a:prstGeom prst="ellipse">
            <a:avLst/>
          </a:prstGeom>
          <a:solidFill>
            <a:srgbClr val="6B7280"/>
          </a:solidFill>
          <a:ln/>
        </p:spPr>
      </p:sp>
      <p:sp>
        <p:nvSpPr>
          <p:cNvPr id="26" name="Text 24"/>
          <p:cNvSpPr txBox="1"/>
          <p:nvPr/>
        </p:nvSpPr>
        <p:spPr>
          <a:xfrm>
            <a:off x="1097280" y="443484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Model training</a:t>
            </a:r>
            <a:endParaRPr lang="en-US" sz="1350" dirty="0"/>
          </a:p>
        </p:txBody>
      </p:sp>
      <p:sp>
        <p:nvSpPr>
          <p:cNvPr id="27" name="Text 25"/>
          <p:cNvSpPr txBox="1"/>
          <p:nvPr/>
        </p:nvSpPr>
        <p:spPr>
          <a:xfrm>
            <a:off x="4480560" y="4434840"/>
            <a:ext cx="1691640" cy="512064"/>
          </a:xfrm>
          <a:prstGeom prst="rect">
            <a:avLst/>
          </a:prstGeom>
          <a:noFill/>
          <a:ln/>
        </p:spPr>
        <p:txBody>
          <a:bodyPr wrap="square" lIns="0" tIns="0" rIns="0" bIns="0" rtlCol="0" anchor="ctr"/>
          <a:lstStyle/>
          <a:p>
            <a:pPr algn="r" indent="0" marL="0">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
        <p:nvSpPr>
          <p:cNvPr id="28" name="Shape 26"/>
          <p:cNvSpPr/>
          <p:nvPr/>
        </p:nvSpPr>
        <p:spPr>
          <a:xfrm>
            <a:off x="6675120" y="1463040"/>
            <a:ext cx="4937760" cy="3246120"/>
          </a:xfrm>
          <a:prstGeom prst="roundRect">
            <a:avLst>
              <a:gd name="adj" fmla="val 2254"/>
            </a:avLst>
          </a:prstGeom>
          <a:solidFill>
            <a:srgbClr val="FFFFFF"/>
          </a:solidFill>
          <a:ln w="12700">
            <a:solidFill>
              <a:srgbClr val="9AA5B8"/>
            </a:solidFill>
            <a:prstDash val="dash"/>
          </a:ln>
        </p:spPr>
      </p:sp>
      <p:sp>
        <p:nvSpPr>
          <p:cNvPr id="29" name="Text 27"/>
          <p:cNvSpPr txBox="1"/>
          <p:nvPr/>
        </p:nvSpPr>
        <p:spPr>
          <a:xfrm>
            <a:off x="6812280" y="1463040"/>
            <a:ext cx="4663440" cy="3246120"/>
          </a:xfrm>
          <a:prstGeom prst="rect">
            <a:avLst/>
          </a:prstGeom>
          <a:noFill/>
          <a:ln/>
        </p:spPr>
        <p:txBody>
          <a:bodyPr wrap="square" lIns="0" tIns="0" rIns="0" bIns="0" rtlCol="0" anchor="ctr"/>
          <a:lstStyle/>
          <a:p>
            <a:pPr algn="ctr" indent="0" marL="0">
              <a:buNone/>
            </a:pPr>
            <a:r>
              <a:rPr lang="en-US" sz="1200" dirty="0">
                <a:solidFill>
                  <a:srgbClr val="6B7280"/>
                </a:solidFill>
                <a:latin typeface="Calibri" pitchFamily="34" charset="0"/>
                <a:ea typeface="Calibri" pitchFamily="34" charset="-122"/>
                <a:cs typeface="Calibri" pitchFamily="34" charset="-120"/>
              </a:rPr>
              <a:t>[ Add screenshot here:</a:t>
            </a:r>
            <a:endParaRPr lang="en-US" sz="1200" dirty="0"/>
          </a:p>
          <a:p>
            <a:pPr algn="ctr" indent="0" marL="0">
              <a:buNone/>
            </a:pPr>
            <a:r>
              <a:rPr lang="en-US" sz="1200" dirty="0">
                <a:solidFill>
                  <a:srgbClr val="6B7280"/>
                </a:solidFill>
                <a:latin typeface="Calibri" pitchFamily="34" charset="0"/>
                <a:ea typeface="Calibri" pitchFamily="34" charset="-122"/>
                <a:cs typeface="Calibri" pitchFamily="34" charset="-120"/>
              </a:rPr>
              <a:t>dataset preview or preprocessed text output ]</a:t>
            </a:r>
            <a:endParaRPr lang="en-US" sz="1200" dirty="0"/>
          </a:p>
        </p:txBody>
      </p:sp>
      <p:sp>
        <p:nvSpPr>
          <p:cNvPr id="30" name="Shape 28"/>
          <p:cNvSpPr/>
          <p:nvPr/>
        </p:nvSpPr>
        <p:spPr>
          <a:xfrm>
            <a:off x="6675120" y="4892040"/>
            <a:ext cx="4937760" cy="1005840"/>
          </a:xfrm>
          <a:prstGeom prst="roundRect">
            <a:avLst>
              <a:gd name="adj" fmla="val 7273"/>
            </a:avLst>
          </a:prstGeom>
          <a:solidFill>
            <a:srgbClr val="FDF6E6"/>
          </a:solidFill>
          <a:ln w="12700">
            <a:solidFill>
              <a:srgbClr val="DDE3EC"/>
            </a:solidFill>
            <a:prstDash val="solid"/>
          </a:ln>
        </p:spPr>
      </p:sp>
      <p:sp>
        <p:nvSpPr>
          <p:cNvPr id="31" name="Text 29"/>
          <p:cNvSpPr txBox="1"/>
          <p:nvPr/>
        </p:nvSpPr>
        <p:spPr>
          <a:xfrm>
            <a:off x="6903720" y="5029200"/>
            <a:ext cx="4480560" cy="731520"/>
          </a:xfrm>
          <a:prstGeom prst="rect">
            <a:avLst/>
          </a:prstGeom>
          <a:noFill/>
          <a:ln/>
        </p:spPr>
        <p:txBody>
          <a:bodyPr wrap="square" lIns="0" tIns="0" rIns="0" bIns="0" rtlCol="0" anchor="ctr"/>
          <a:lstStyle/>
          <a:p>
            <a:pPr indent="0" marL="0">
              <a:buNone/>
            </a:pPr>
            <a:r>
              <a:rPr lang="en-US" sz="1250" dirty="0">
                <a:solidFill>
                  <a:srgbClr val="1F2430"/>
                </a:solidFill>
                <a:latin typeface="Calibri" pitchFamily="34" charset="0"/>
                <a:ea typeface="Calibri" pitchFamily="34" charset="-122"/>
                <a:cs typeface="Calibri" pitchFamily="34" charset="-120"/>
              </a:rPr>
              <a:t>Status is as of Review 1. The remaining stages follow the plan on the next slide.</a:t>
            </a:r>
            <a:endParaRPr lang="en-US" sz="1250" dirty="0"/>
          </a:p>
        </p:txBody>
      </p:sp>
      <p:sp>
        <p:nvSpPr>
          <p:cNvPr id="32" name="Text 3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sp>
        <p:nvSpPr>
          <p:cNvPr id="301" name="Shape 22"/>
          <p:cNvSpPr/>
          <p:nvPr/>
        </p:nvSpPr>
        <p:spPr>
          <a:xfrm>
            <a:off x="548640" y="5029200"/>
            <a:ext cx="5852160" cy="512064"/>
          </a:xfrm>
          <a:prstGeom prst="roundRect">
            <a:avLst>
              <a:gd name="adj" fmla="val 12903"/>
            </a:avLst>
          </a:prstGeom>
          <a:solidFill>
            <a:srgbClr val="F1F4F9"/>
          </a:solidFill>
          <a:ln w="12700">
            <a:solidFill>
              <a:srgbClr val="DDE3EC"/>
            </a:solidFill>
            <a:prstDash val="solid"/>
          </a:ln>
        </p:spPr>
      </p:sp>
      <p:sp>
        <p:nvSpPr>
          <p:cNvPr id="302" name="Shape 23"/>
          <p:cNvSpPr/>
          <p:nvPr/>
        </p:nvSpPr>
        <p:spPr>
          <a:xfrm>
            <a:off x="777240" y="5193792"/>
            <a:ext cx="182880" cy="182880"/>
          </a:xfrm>
          <a:prstGeom prst="ellipse">
            <a:avLst/>
          </a:prstGeom>
          <a:solidFill>
            <a:srgbClr val="6B7280"/>
          </a:solidFill>
          <a:ln/>
        </p:spPr>
      </p:sp>
      <p:sp>
        <p:nvSpPr>
          <p:cNvPr id="303" name="Text 24"/>
          <p:cNvSpPr txBox="1"/>
          <p:nvPr/>
        </p:nvSpPr>
        <p:spPr>
          <a:xfrm>
            <a:off x="1097280" y="5029200"/>
            <a:ext cx="3291840" cy="512064"/>
          </a:xfrm>
          <a:prstGeom prst="rect">
            <a:avLst/>
          </a:prstGeom>
          <a:noFill/>
          <a:ln/>
        </p:spPr>
        <p:txBody>
          <a:bodyPr wrap="square" lIns="0" tIns="0" rIns="0" bIns="0" rtlCol="0" anchor="ctr"/>
          <a:lstStyle/>
          <a:p>
            <a:pPr indent="0" marL="0">
              <a:buNone/>
            </a:pPr>
            <a:r>
              <a:rPr lang="en-US" sz="1350" dirty="0">
                <a:solidFill>
                  <a:srgbClr val="1F2430"/>
                </a:solidFill>
                <a:latin typeface="Calibri" pitchFamily="34" charset="0"/>
                <a:ea typeface="Calibri" pitchFamily="34" charset="-122"/>
                <a:cs typeface="Calibri" pitchFamily="34" charset="-120"/>
              </a:rPr>
              <a:t>Model comparison</a:t>
            </a:r>
            <a:endParaRPr lang="en-US" sz="1350" dirty="0"/>
          </a:p>
        </p:txBody>
      </p:sp>
      <p:sp>
        <p:nvSpPr>
          <p:cNvPr id="304" name="Text 25"/>
          <p:cNvSpPr txBox="1"/>
          <p:nvPr/>
        </p:nvSpPr>
        <p:spPr>
          <a:xfrm>
            <a:off x="4480560" y="5029200"/>
            <a:ext cx="1691640" cy="512064"/>
          </a:xfrm>
          <a:prstGeom prst="rect">
            <a:avLst/>
          </a:prstGeom>
          <a:noFill/>
          <a:ln/>
        </p:spPr>
        <p:txBody>
          <a:bodyPr wrap="square" lIns="0" tIns="0" rIns="0" bIns="0" rtlCol="0" anchor="ctr"/>
          <a:lstStyle/>
          <a:p>
            <a:pPr algn="r" indent="0" marL="0">
              <a:buNone/>
            </a:pPr>
            <a:r>
              <a:rPr lang="en-US" sz="1200" b="1" dirty="0">
                <a:solidFill>
                  <a:srgbClr val="6B7280"/>
                </a:solidFill>
                <a:latin typeface="Calibri" pitchFamily="34" charset="0"/>
                <a:ea typeface="Calibri" pitchFamily="34" charset="-122"/>
                <a:cs typeface="Calibri" pitchFamily="34" charset="-120"/>
              </a:rPr>
              <a:t>Pending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10</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Timeline &amp; Review Plan</a:t>
            </a:r>
            <a:endParaRPr lang="en-US" sz="3100" dirty="0"/>
          </a:p>
        </p:txBody>
      </p:sp>
      <p:sp>
        <p:nvSpPr>
          <p:cNvPr id="4" name="Shape 2"/>
          <p:cNvSpPr/>
          <p:nvPr/>
        </p:nvSpPr>
        <p:spPr>
          <a:xfrm>
            <a:off x="1645920" y="2880360"/>
            <a:ext cx="8915400" cy="0"/>
          </a:xfrm>
          <a:prstGeom prst="line">
            <a:avLst/>
          </a:prstGeom>
          <a:noFill/>
          <a:ln w="38100">
            <a:solidFill>
              <a:srgbClr val="DDE3EC"/>
            </a:solidFill>
            <a:prstDash val="solid"/>
          </a:ln>
        </p:spPr>
      </p:sp>
      <p:sp>
        <p:nvSpPr>
          <p:cNvPr id="5" name="Shape 3"/>
          <p:cNvSpPr/>
          <p:nvPr/>
        </p:nvSpPr>
        <p:spPr>
          <a:xfrm>
            <a:off x="1444752" y="2679192"/>
            <a:ext cx="402336" cy="402336"/>
          </a:xfrm>
          <a:prstGeom prst="ellipse">
            <a:avLst/>
          </a:prstGeom>
          <a:solidFill>
            <a:srgbClr val="A4161A"/>
          </a:solidFill>
          <a:ln w="25400">
            <a:solidFill>
              <a:srgbClr val="A4161A"/>
            </a:solidFill>
            <a:prstDash val="solid"/>
          </a:ln>
        </p:spPr>
      </p:sp>
      <p:sp>
        <p:nvSpPr>
          <p:cNvPr id="6" name="Text 4"/>
          <p:cNvSpPr txBox="1"/>
          <p:nvPr/>
        </p:nvSpPr>
        <p:spPr>
          <a:xfrm>
            <a:off x="4572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0</a:t>
            </a:r>
            <a:endParaRPr lang="en-US" sz="1500" dirty="0"/>
          </a:p>
        </p:txBody>
      </p:sp>
      <p:sp>
        <p:nvSpPr>
          <p:cNvPr id="7" name="Text 5"/>
          <p:cNvSpPr txBox="1"/>
          <p:nvPr/>
        </p:nvSpPr>
        <p:spPr>
          <a:xfrm>
            <a:off x="4572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2</a:t>
            </a:r>
            <a:endParaRPr lang="en-US" sz="1200" dirty="0"/>
          </a:p>
        </p:txBody>
      </p:sp>
      <p:sp>
        <p:nvSpPr>
          <p:cNvPr id="8" name="Text 6"/>
          <p:cNvSpPr txBox="1"/>
          <p:nvPr/>
        </p:nvSpPr>
        <p:spPr>
          <a:xfrm>
            <a:off x="3200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Phase 1: Abstract and problem identification</a:t>
            </a:r>
            <a:endParaRPr lang="en-US" sz="1250" dirty="0"/>
          </a:p>
        </p:txBody>
      </p:sp>
      <p:sp>
        <p:nvSpPr>
          <p:cNvPr id="9" name="Shape 7"/>
          <p:cNvSpPr/>
          <p:nvPr/>
        </p:nvSpPr>
        <p:spPr>
          <a:xfrm>
            <a:off x="4416552" y="2679192"/>
            <a:ext cx="402336" cy="402336"/>
          </a:xfrm>
          <a:prstGeom prst="ellipse">
            <a:avLst/>
          </a:prstGeom>
          <a:solidFill>
            <a:srgbClr val="A4161A"/>
          </a:solidFill>
          <a:ln w="25400">
            <a:solidFill>
              <a:srgbClr val="A4161A"/>
            </a:solidFill>
            <a:prstDash val="solid"/>
          </a:ln>
        </p:spPr>
      </p:sp>
      <p:sp>
        <p:nvSpPr>
          <p:cNvPr id="10" name="Text 8"/>
          <p:cNvSpPr txBox="1"/>
          <p:nvPr/>
        </p:nvSpPr>
        <p:spPr>
          <a:xfrm>
            <a:off x="34290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1</a:t>
            </a:r>
            <a:endParaRPr lang="en-US" sz="1500" dirty="0"/>
          </a:p>
        </p:txBody>
      </p:sp>
      <p:sp>
        <p:nvSpPr>
          <p:cNvPr id="11" name="Text 9"/>
          <p:cNvSpPr txBox="1"/>
          <p:nvPr/>
        </p:nvSpPr>
        <p:spPr>
          <a:xfrm>
            <a:off x="34290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5</a:t>
            </a:r>
            <a:endParaRPr lang="en-US" sz="1200" dirty="0"/>
          </a:p>
        </p:txBody>
      </p:sp>
      <p:sp>
        <p:nvSpPr>
          <p:cNvPr id="12" name="Text 10"/>
          <p:cNvSpPr txBox="1"/>
          <p:nvPr/>
        </p:nvSpPr>
        <p:spPr>
          <a:xfrm>
            <a:off x="32918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Phases 2-3: Literature survey and dataset collection</a:t>
            </a:r>
            <a:endParaRPr lang="en-US" sz="1250" dirty="0"/>
          </a:p>
        </p:txBody>
      </p:sp>
      <p:sp>
        <p:nvSpPr>
          <p:cNvPr id="13" name="Shape 11"/>
          <p:cNvSpPr/>
          <p:nvPr/>
        </p:nvSpPr>
        <p:spPr>
          <a:xfrm>
            <a:off x="7388352" y="2679192"/>
            <a:ext cx="402336" cy="402336"/>
          </a:xfrm>
          <a:prstGeom prst="ellipse">
            <a:avLst/>
          </a:prstGeom>
          <a:solidFill>
            <a:srgbClr val="FFFFFF"/>
          </a:solidFill>
          <a:ln w="25400">
            <a:solidFill>
              <a:srgbClr val="9AA5B8"/>
            </a:solidFill>
            <a:prstDash val="solid"/>
          </a:ln>
        </p:spPr>
      </p:sp>
      <p:sp>
        <p:nvSpPr>
          <p:cNvPr id="14" name="Text 12"/>
          <p:cNvSpPr txBox="1"/>
          <p:nvPr/>
        </p:nvSpPr>
        <p:spPr>
          <a:xfrm>
            <a:off x="64008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2</a:t>
            </a:r>
            <a:endParaRPr lang="en-US" sz="1500" dirty="0"/>
          </a:p>
        </p:txBody>
      </p:sp>
      <p:sp>
        <p:nvSpPr>
          <p:cNvPr id="15" name="Text 13"/>
          <p:cNvSpPr txBox="1"/>
          <p:nvPr/>
        </p:nvSpPr>
        <p:spPr>
          <a:xfrm>
            <a:off x="64008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9</a:t>
            </a:r>
            <a:endParaRPr lang="en-US" sz="1200" dirty="0"/>
          </a:p>
        </p:txBody>
      </p:sp>
      <p:sp>
        <p:nvSpPr>
          <p:cNvPr id="16" name="Text 14"/>
          <p:cNvSpPr txBox="1"/>
          <p:nvPr/>
        </p:nvSpPr>
        <p:spPr>
          <a:xfrm>
            <a:off x="62636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Phases 4-6: Preprocessing, feature extraction, model implementation</a:t>
            </a:r>
            <a:endParaRPr lang="en-US" sz="1250" dirty="0"/>
          </a:p>
        </p:txBody>
      </p:sp>
      <p:sp>
        <p:nvSpPr>
          <p:cNvPr id="17" name="Shape 15"/>
          <p:cNvSpPr/>
          <p:nvPr/>
        </p:nvSpPr>
        <p:spPr>
          <a:xfrm>
            <a:off x="10360152" y="2679192"/>
            <a:ext cx="402336" cy="402336"/>
          </a:xfrm>
          <a:prstGeom prst="ellipse">
            <a:avLst/>
          </a:prstGeom>
          <a:solidFill>
            <a:srgbClr val="FFFFFF"/>
          </a:solidFill>
          <a:ln w="25400">
            <a:solidFill>
              <a:srgbClr val="9AA5B8"/>
            </a:solidFill>
            <a:prstDash val="solid"/>
          </a:ln>
        </p:spPr>
      </p:sp>
      <p:sp>
        <p:nvSpPr>
          <p:cNvPr id="18" name="Text 16"/>
          <p:cNvSpPr txBox="1"/>
          <p:nvPr/>
        </p:nvSpPr>
        <p:spPr>
          <a:xfrm>
            <a:off x="93726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Final</a:t>
            </a:r>
            <a:endParaRPr lang="en-US" sz="1500" dirty="0"/>
          </a:p>
        </p:txBody>
      </p:sp>
      <p:sp>
        <p:nvSpPr>
          <p:cNvPr id="19" name="Text 17"/>
          <p:cNvSpPr txBox="1"/>
          <p:nvPr/>
        </p:nvSpPr>
        <p:spPr>
          <a:xfrm>
            <a:off x="93726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14</a:t>
            </a:r>
            <a:endParaRPr lang="en-US" sz="1200" dirty="0"/>
          </a:p>
        </p:txBody>
      </p:sp>
      <p:sp>
        <p:nvSpPr>
          <p:cNvPr id="20" name="Text 18"/>
          <p:cNvSpPr txBox="1"/>
          <p:nvPr/>
        </p:nvSpPr>
        <p:spPr>
          <a:xfrm>
            <a:off x="9235440" y="3520440"/>
            <a:ext cx="2651760" cy="822960"/>
          </a:xfrm>
          <a:prstGeom prst="rect">
            <a:avLst/>
          </a:prstGeom>
          <a:noFill/>
          <a:ln/>
        </p:spPr>
        <p:txBody>
          <a:bodyPr wrap="square" lIns="0" tIns="0" rIns="0" bIns="0" rtlCol="0" anchor="ctr"/>
          <a:lstStyle/>
          <a:p>
            <a:pPr algn="ctr" indent="0" marL="0">
              <a:buNone/>
            </a:pPr>
            <a:r>
              <a:rPr lang="en-US" sz="1250" dirty="0">
                <a:solidFill>
                  <a:srgbClr val="1F2430"/>
                </a:solidFill>
                <a:latin typeface="Calibri" pitchFamily="34" charset="0"/>
                <a:ea typeface="Calibri" pitchFamily="34" charset="-122"/>
                <a:cs typeface="Calibri" pitchFamily="34" charset="-120"/>
              </a:rPr>
              <a:t>Phases 7-9: Model comparison, testing, final documentation and demo</a:t>
            </a:r>
            <a:endParaRPr lang="en-US" sz="1250" dirty="0"/>
          </a:p>
        </p:txBody>
      </p:sp>
      <p:sp>
        <p:nvSpPr>
          <p:cNvPr id="22" name="Shape 20"/>
          <p:cNvSpPr/>
          <p:nvPr/>
        </p:nvSpPr>
        <p:spPr>
          <a:xfrm>
            <a:off x="548640" y="4937760"/>
            <a:ext cx="11064240" cy="1051560"/>
          </a:xfrm>
          <a:prstGeom prst="roundRect">
            <a:avLst>
              <a:gd name="adj" fmla="val 6957"/>
            </a:avLst>
          </a:prstGeom>
          <a:solidFill>
            <a:srgbClr val="FDF6E6"/>
          </a:solidFill>
          <a:ln w="12700">
            <a:solidFill>
              <a:srgbClr val="DDE3EC"/>
            </a:solidFill>
            <a:prstDash val="solid"/>
          </a:ln>
        </p:spPr>
      </p:sp>
      <p:sp>
        <p:nvSpPr>
          <p:cNvPr id="23" name="Text 21"/>
          <p:cNvSpPr txBox="1"/>
          <p:nvPr/>
        </p:nvSpPr>
        <p:spPr>
          <a:xfrm>
            <a:off x="868680" y="4937760"/>
            <a:ext cx="10424160" cy="1051560"/>
          </a:xfrm>
          <a:prstGeom prst="rect">
            <a:avLst/>
          </a:prstGeom>
          <a:noFill/>
          <a:ln/>
        </p:spPr>
        <p:txBody>
          <a:bodyPr wrap="square" lIns="0" tIns="0" rIns="0" bIns="0" rtlCol="0" anchor="ctr"/>
          <a:lstStyle/>
          <a:p>
            <a:pPr indent="0" marL="0">
              <a:buNone/>
            </a:pPr>
            <a:r>
              <a:rPr lang="en-US" sz="1300" b="1" dirty="0">
                <a:solidFill>
                  <a:srgbClr val="A4161A"/>
                </a:solidFill>
                <a:latin typeface="Calibri" pitchFamily="34" charset="0"/>
                <a:ea typeface="Calibri" pitchFamily="34" charset="-122"/>
                <a:cs typeface="Calibri" pitchFamily="34" charset="-120"/>
              </a:rPr>
              <a:t>Phases:  </a:t>
            </a:r>
            <a:pPr indent="0" marL="0">
              <a:buNone/>
            </a:pPr>
            <a:r>
              <a:rPr lang="en-US" sz="1300" dirty="0">
                <a:solidFill>
                  <a:srgbClr val="1F2430"/>
                </a:solidFill>
                <a:latin typeface="Calibri" pitchFamily="34" charset="0"/>
                <a:ea typeface="Calibri" pitchFamily="34" charset="-122"/>
                <a:cs typeface="Calibri" pitchFamily="34" charset="-120"/>
              </a:rPr>
              <a:t>1 Abstract and problem identification  |  2 Literature survey  |  3 Dataset collection  |  4 Data preprocessing  |  5 Feature extraction  |  6 Model implementation  |  7 Model comparison  |  8 Testing and evaluation  |  9 Final documentation and demo</a:t>
            </a:r>
            <a:endParaRPr lang="en-US" sz="1300" dirty="0"/>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sp>
      <p:sp>
        <p:nvSpPr>
          <p:cNvPr id="5" name="Text 3"/>
          <p:cNvSpPr txBox="1"/>
          <p:nvPr/>
        </p:nvSpPr>
        <p:spPr>
          <a:xfrm>
            <a:off x="822960" y="1691640"/>
            <a:ext cx="2971800" cy="274320"/>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822960" y="2057400"/>
            <a:ext cx="2971800" cy="1371600"/>
          </a:xfrm>
          <a:prstGeom prst="rect">
            <a:avLst/>
          </a:prstGeom>
          <a:noFill/>
          <a:ln/>
        </p:spPr>
        <p:txBody>
          <a:bodyPr wrap="square" lIns="0" tIns="0" rIns="0" bIns="0" rtlCol="0" anchor="ctr"/>
          <a:lstStyle/>
          <a:p>
            <a:pPr indent="0" marL="0">
              <a:buNone/>
            </a:pPr>
            <a:r>
              <a:rPr lang="en-US" sz="1450" b="1" dirty="0">
                <a:solidFill>
                  <a:srgbClr val="1B2A55"/>
                </a:solidFill>
                <a:latin typeface="Cambria" pitchFamily="34" charset="0"/>
                <a:ea typeface="Cambria" pitchFamily="34" charset="-122"/>
                <a:cs typeface="Cambria" pitchFamily="34" charset="-120"/>
              </a:rPr>
              <a:t>A machine learning-based system that classifies SMS and email messages as Spam or Not Spam, with analysis of influential words</a:t>
            </a:r>
            <a:endParaRPr lang="en-US" sz="1450" dirty="0"/>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sp>
      <p:sp>
        <p:nvSpPr>
          <p:cNvPr id="8" name="Text 6"/>
          <p:cNvSpPr txBox="1"/>
          <p:nvPr/>
        </p:nvSpPr>
        <p:spPr>
          <a:xfrm>
            <a:off x="4572000" y="1691640"/>
            <a:ext cx="2971800" cy="274320"/>
          </a:xfrm>
          <a:prstGeom prst="rect">
            <a:avLst/>
          </a:prstGeom>
          <a:noFill/>
          <a:ln/>
        </p:spPr>
        <p:txBody>
          <a:bodyPr wrap="square" lIns="0" tIns="0" rIns="0" bIns="0" rtlCol="0" anchor="ctr"/>
          <a:lstStyle/>
          <a:p>
            <a:pPr indent="0" marL="0">
              <a:buNone/>
            </a:pPr>
            <a:r>
              <a:rPr lang="en-US" sz="1050" b="1" spc="150" kern="0" dirty="0">
                <a:solidFill>
                  <a:srgbClr val="C8A02C"/>
                </a:solidFill>
                <a:latin typeface="Calibri" pitchFamily="34" charset="0"/>
                <a:ea typeface="Calibri" pitchFamily="34" charset="-122"/>
                <a:cs typeface="Calibri" pitchFamily="34" charset="-120"/>
              </a:rPr>
              <a:t>WHAT WE COMPARE</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Bag-of-Words vs TF-IDF, and Multinomial Naive Bayes vs SVM</a:t>
            </a:r>
            <a:endParaRPr lang="en-US" sz="1600" dirty="0"/>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sp>
      <p:sp>
        <p:nvSpPr>
          <p:cNvPr id="11" name="Text 9"/>
          <p:cNvSpPr txBox="1"/>
          <p:nvPr/>
        </p:nvSpPr>
        <p:spPr>
          <a:xfrm>
            <a:off x="8321040" y="1691640"/>
            <a:ext cx="2971800" cy="274320"/>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FUTURE SCOPE</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pPr indent="-171450" marL="171450">
              <a:buFont typeface="Arial"/>
              <a:buChar char="•"/>
            </a:pPr>
            <a:r>
              <a:rPr lang="en-US" sz="1350" dirty="0">
                <a:solidFill>
                  <a:srgbClr val="1B2A55"/>
                </a:solidFill>
                <a:latin typeface="Calibri" pitchFamily="34" charset="0"/>
                <a:ea typeface="Calibri" pitchFamily="34" charset="-122"/>
                <a:cs typeface="Calibri" pitchFamily="34" charset="-120"/>
              </a:rPr>
              <a:t>Support for more languages</a:t>
            </a:r>
            <a:endParaRPr lang="en-US" sz="1350" dirty="0"/>
          </a:p>
          <a:p>
            <a:pPr indent="-171450" marL="171450">
              <a:buFont typeface="Arial"/>
              <a:buChar char="•"/>
            </a:pPr>
            <a:r>
              <a:rPr lang="en-US" sz="1350" dirty="0">
                <a:solidFill>
                  <a:srgbClr val="1B2A55"/>
                </a:solidFill>
                <a:latin typeface="Calibri" pitchFamily="34" charset="0"/>
                <a:ea typeface="Calibri" pitchFamily="34" charset="-122"/>
                <a:cs typeface="Calibri" pitchFamily="34" charset="-120"/>
              </a:rPr>
              <a:t>Integration with email platforms</a:t>
            </a:r>
            <a:endParaRPr lang="en-US" sz="1350" dirty="0"/>
          </a:p>
          <a:p>
            <a:pPr indent="-171450" marL="171450">
              <a:buFont typeface="Arial"/>
              <a:buChar char="•"/>
            </a:pPr>
            <a:r>
              <a:rPr lang="en-US" sz="1350" dirty="0">
                <a:solidFill>
                  <a:srgbClr val="1B2A55"/>
                </a:solidFill>
                <a:latin typeface="Calibri" pitchFamily="34" charset="0"/>
                <a:ea typeface="Calibri" pitchFamily="34" charset="-122"/>
                <a:cs typeface="Calibri" pitchFamily="34" charset="-120"/>
              </a:rPr>
              <a:t>Better detection of evolving spam patterns</a:t>
            </a:r>
            <a:endParaRPr lang="en-US" sz="1350" dirty="0"/>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sp>
      <p:sp>
        <p:nvSpPr>
          <p:cNvPr id="14" name="Text 12"/>
          <p:cNvSpPr txBox="1"/>
          <p:nvPr/>
        </p:nvSpPr>
        <p:spPr>
          <a:xfrm>
            <a:off x="868680" y="4160520"/>
            <a:ext cx="10424160" cy="274320"/>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The SMS and Email Spam Filter project uses Machine Learning and NLP techniques to automatically classify unwanted messages. It combines text preprocessing, feature extraction and classification algorithms to identify spam. By comparing different approaches, the project aims to build a practical spam filter and to understand how machine learning works on textual data.</a:t>
            </a:r>
            <a:endParaRPr lang="en-US" sz="1400" dirty="0"/>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i="1" dirty="0">
                <a:solidFill>
                  <a:srgbClr val="6B7280"/>
                </a:solidFill>
                <a:latin typeface="Calibri" pitchFamily="34" charset="0"/>
                <a:ea typeface="Calibri" pitchFamily="34" charset="-122"/>
                <a:cs typeface="Calibri" pitchFamily="34" charset="-120"/>
              </a:rPr>
              <a:t>IEEE format</a:t>
            </a:r>
            <a:endParaRPr lang="en-US" sz="1050" dirty="0"/>
          </a:p>
        </p:txBody>
      </p:sp>
      <p:sp>
        <p:nvSpPr>
          <p:cNvPr id="5" name="Shape 3"/>
          <p:cNvSpPr/>
          <p:nvPr/>
        </p:nvSpPr>
        <p:spPr>
          <a:xfrm>
            <a:off x="548640" y="1572768"/>
            <a:ext cx="11064240" cy="4206240"/>
          </a:xfrm>
          <a:prstGeom prst="roundRect">
            <a:avLst>
              <a:gd name="adj" fmla="val 2000"/>
            </a:avLst>
          </a:prstGeom>
          <a:solidFill>
            <a:srgbClr val="F1F4F9"/>
          </a:solidFill>
          <a:ln w="12700">
            <a:solidFill>
              <a:srgbClr val="DDE3EC"/>
            </a:solidFill>
            <a:prstDash val="solid"/>
          </a:ln>
        </p:spPr>
      </p:sp>
      <p:sp>
        <p:nvSpPr>
          <p:cNvPr id="6" name="Text 4"/>
          <p:cNvSpPr txBox="1"/>
          <p:nvPr/>
        </p:nvSpPr>
        <p:spPr>
          <a:xfrm>
            <a:off x="868680" y="1783080"/>
            <a:ext cx="10424160" cy="3794760"/>
          </a:xfrm>
          <a:prstGeom prst="rect">
            <a:avLst/>
          </a:prstGeom>
          <a:noFill/>
          <a:ln/>
        </p:spPr>
        <p:txBody>
          <a:bodyPr wrap="square" lIns="0" tIns="0" rIns="0" bIns="0" rtlCol="0" anchor="ctr"/>
          <a:lstStyle/>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[1]  M. Sahami, S. Dumais, D. Heckerman and E. Horvitz, "A Bayesian approach to filtering junk e-mail," in Proc. AAAI-98 Workshop on Learning for Text Categorization, Madison, WI, USA, 1998, pp. 55-62.</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[2]  H. Drucker, D. Wu and V. N. Vapnik, "Support vector machines for spam categorization," IEEE Trans. Neural Netw., vol. 10, no. 5, pp. 1048-1054, Sep. 1999.</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[3]  V. Metsis, I. Androutsopoulos and G. Paliouras, "Spam filtering with naive Bayes - which naive Bayes?" in Proc. 3rd Conf. Email and Anti-Spam (CEAS), Mountain View, CA, USA, 2006.</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[4]  T. A. Almeida, J. M. G. Hidalgo and A. Yamakami, "Contributions to the study of SMS spam filtering: New collection and results," in Proc. 11th ACM Symp. Document Engineering, Mountain View, CA, USA, 2011, pp. 259-262.</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[5]  G. Salton and C. Buckley, "Term-weighting approaches in automatic text retrieval," Inf. Process. Manage., vol. 24, no. 5, pp. 513-523, 1988.</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[6]  T. Joachims, "Text categorization with support vector machines: Learning with many relevant features," in Proc. ECML, Chemnitz, Germany, 1998, pp. 137-142.</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[7]  F. Pedregosa et al., "Scikit-learn: Machine learning in Python," J. Mach. Learn. Res., vol. 12, pp. 2825-2830, 2011.</a:t>
            </a:r>
            <a:endParaRPr lang="en-US" sz="1300" dirty="0"/>
          </a:p>
          <a:p>
            <a:pPr indent="0" marL="0">
              <a:spcAft>
                <a:spcPts val="700"/>
              </a:spcAft>
              <a:buNone/>
            </a:pPr>
            <a:r>
              <a:rPr lang="en-US" sz="1300" dirty="0">
                <a:solidFill>
                  <a:srgbClr val="1F2430"/>
                </a:solidFill>
                <a:latin typeface="Calibri" pitchFamily="34" charset="0"/>
                <a:ea typeface="Calibri" pitchFamily="34" charset="-122"/>
                <a:cs typeface="Calibri" pitchFamily="34" charset="-120"/>
              </a:rPr>
              <a:t>[8]  T. A. Almeida and J. M. G. Hidalgo, "SMS Spam Collection," UCI Machine Learning Repository, 2012. [Online]. Available: https://archive.ics.uci.edu/dataset/228/sms+spam+collection</a:t>
            </a:r>
            <a:endParaRPr lang="en-US" sz="1300" dirty="0"/>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822960" y="3154680"/>
            <a:ext cx="10515600" cy="457200"/>
          </a:xfrm>
          <a:prstGeom prst="rect">
            <a:avLst/>
          </a:prstGeom>
          <a:noFill/>
          <a:ln/>
        </p:spPr>
        <p:txBody>
          <a:bodyPr wrap="square" lIns="0" tIns="0" rIns="0" bIns="0" rtlCol="0" anchor="ctr"/>
          <a:lstStyle/>
          <a:p>
            <a:pPr indent="0" marL="0">
              <a:buNone/>
            </a:pPr>
            <a:r>
              <a:rPr lang="en-US" sz="2000" dirty="0">
                <a:solidFill>
                  <a:srgbClr val="C8A02C"/>
                </a:solidFill>
                <a:latin typeface="Calibri" pitchFamily="34" charset="0"/>
                <a:ea typeface="Calibri" pitchFamily="34" charset="-122"/>
                <a:cs typeface="Calibri" pitchFamily="34" charset="-120"/>
              </a:rPr>
              <a:t>Questions &amp; Suggestions</a:t>
            </a:r>
            <a:endParaRPr lang="en-US" sz="2000" dirty="0"/>
          </a:p>
        </p:txBody>
      </p:sp>
      <p:sp>
        <p:nvSpPr>
          <p:cNvPr id="4" name="Shape 2"/>
          <p:cNvSpPr/>
          <p:nvPr/>
        </p:nvSpPr>
        <p:spPr>
          <a:xfrm>
            <a:off x="822960" y="3977640"/>
            <a:ext cx="2926080" cy="0"/>
          </a:xfrm>
          <a:prstGeom prst="line">
            <a:avLst/>
          </a:prstGeom>
          <a:noFill/>
          <a:ln w="25400">
            <a:solidFill>
              <a:srgbClr val="2E3F6E"/>
            </a:solidFill>
            <a:prstDash val="solid"/>
          </a:ln>
        </p:spPr>
      </p:sp>
      <p:sp>
        <p:nvSpPr>
          <p:cNvPr id="5" name="Text 3"/>
          <p:cNvSpPr txBox="1"/>
          <p:nvPr/>
        </p:nvSpPr>
        <p:spPr>
          <a:xfrm>
            <a:off x="822960" y="4251960"/>
            <a:ext cx="10515600" cy="365760"/>
          </a:xfrm>
          <a:prstGeom prst="rect">
            <a:avLst/>
          </a:prstGeom>
          <a:noFill/>
          <a:ln/>
        </p:spPr>
        <p:txBody>
          <a:bodyPr wrap="square" lIns="0" tIns="0" rIns="0" bIns="0" rtlCol="0" anchor="ctr"/>
          <a:lstStyle/>
          <a:p>
            <a:pPr indent="0" marL="0">
              <a:buNone/>
            </a:pPr>
            <a:r>
              <a:rPr lang="en-US" sz="1400" dirty="0">
                <a:solidFill>
                  <a:srgbClr val="AEBBD6"/>
                </a:solidFill>
                <a:latin typeface="Calibri" pitchFamily="34" charset="0"/>
                <a:ea typeface="Calibri" pitchFamily="34" charset="-122"/>
                <a:cs typeface="Calibri" pitchFamily="34" charset="-120"/>
              </a:rPr>
              <a:t>Team: Mallavarapu Bala Pranitha, M. Manasa   |   Guide: Dr. G S Raghavendra   |   Dept. of CSE, KL University, Bachupally Campus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Dept. of CSE, KLH Bachupally</dc:creator>
  <cp:lastModifiedBy>Dept. of CSE, KLH Bachupally</cp:lastModifiedBy>
  <cp:revision>1</cp:revision>
  <dcterms:created xsi:type="dcterms:W3CDTF">2026-09-16T05:47:29Z</dcterms:created>
  <dcterms:modified xsi:type="dcterms:W3CDTF">2026-09-16T05:47:29Z</dcterms:modified>
</cp:coreProperties>
</file>